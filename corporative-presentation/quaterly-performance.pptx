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Montserrat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43573D-4223-490B-B76A-60D7008FF81A}">
  <a:tblStyle styleId="{AF43573D-4223-490B-B76A-60D7008FF8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SemiBold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SemiBold-italic.fntdata"/><Relationship Id="rId25" Type="http://schemas.openxmlformats.org/officeDocument/2006/relationships/font" Target="fonts/Montserrat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Montserrat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slide" Target="/ppt/slides/slide3.xml"/><Relationship Id="rId5" Type="http://schemas.openxmlformats.org/officeDocument/2006/relationships/slide" Target="/ppt/slides/slide5.xml"/><Relationship Id="rId6" Type="http://schemas.openxmlformats.org/officeDocument/2006/relationships/slide" Target="/ppt/slides/slide12.xml"/><Relationship Id="rId7" Type="http://schemas.openxmlformats.org/officeDocument/2006/relationships/slide" Target="/ppt/slides/slide7.xml"/><Relationship Id="rId8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slide" Target="/ppt/slides/slide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slide" Target="/ppt/slides/slide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rot="-6242175">
            <a:off x="2820834" y="-5663278"/>
            <a:ext cx="12643413" cy="19791507"/>
          </a:xfrm>
          <a:custGeom>
            <a:rect b="b" l="l" r="r" t="t"/>
            <a:pathLst>
              <a:path extrusionOk="0" h="19794415" w="12645270">
                <a:moveTo>
                  <a:pt x="4434925" y="0"/>
                </a:moveTo>
                <a:lnTo>
                  <a:pt x="12645270" y="2052307"/>
                </a:lnTo>
                <a:lnTo>
                  <a:pt x="8210345" y="19794415"/>
                </a:lnTo>
                <a:lnTo>
                  <a:pt x="0" y="17742107"/>
                </a:lnTo>
                <a:lnTo>
                  <a:pt x="443492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2836" l="-4161" r="-12661" t="0"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666750" y="4760713"/>
            <a:ext cx="16954500" cy="3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Quarterly</a:t>
            </a:r>
            <a:endParaRPr sz="5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Performance Report</a:t>
            </a:r>
            <a:endParaRPr sz="500"/>
          </a:p>
        </p:txBody>
      </p:sp>
      <p:sp>
        <p:nvSpPr>
          <p:cNvPr id="86" name="Google Shape;86;p13"/>
          <p:cNvSpPr txBox="1"/>
          <p:nvPr/>
        </p:nvSpPr>
        <p:spPr>
          <a:xfrm>
            <a:off x="666750" y="9094625"/>
            <a:ext cx="54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385F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Q3 2035 Business Review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866268" y="9123219"/>
            <a:ext cx="77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Presented by Aoife Gilgan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4"/>
          <p:cNvGrpSpPr/>
          <p:nvPr/>
        </p:nvGrpSpPr>
        <p:grpSpPr>
          <a:xfrm>
            <a:off x="666750" y="4334916"/>
            <a:ext cx="8324850" cy="2118271"/>
            <a:chOff x="0" y="-28575"/>
            <a:chExt cx="2192553" cy="557898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2192553" cy="529323"/>
            </a:xfrm>
            <a:custGeom>
              <a:rect b="b" l="l" r="r" t="t"/>
              <a:pathLst>
                <a:path extrusionOk="0" h="529323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510724"/>
                  </a:lnTo>
                  <a:cubicBezTo>
                    <a:pt x="2192553" y="515657"/>
                    <a:pt x="2190594" y="520388"/>
                    <a:pt x="2187105" y="523876"/>
                  </a:cubicBezTo>
                  <a:cubicBezTo>
                    <a:pt x="2183617" y="527364"/>
                    <a:pt x="2178887" y="529323"/>
                    <a:pt x="2173954" y="529323"/>
                  </a:cubicBezTo>
                  <a:lnTo>
                    <a:pt x="18600" y="529323"/>
                  </a:lnTo>
                  <a:cubicBezTo>
                    <a:pt x="13667" y="529323"/>
                    <a:pt x="8936" y="527364"/>
                    <a:pt x="5448" y="523876"/>
                  </a:cubicBezTo>
                  <a:cubicBezTo>
                    <a:pt x="1960" y="520388"/>
                    <a:pt x="0" y="515657"/>
                    <a:pt x="0" y="5107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0" y="-28575"/>
              <a:ext cx="2192553" cy="5578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4"/>
          <p:cNvSpPr/>
          <p:nvPr/>
        </p:nvSpPr>
        <p:spPr>
          <a:xfrm rot="-5400000">
            <a:off x="7882493" y="5080462"/>
            <a:ext cx="778574" cy="735677"/>
          </a:xfrm>
          <a:custGeom>
            <a:rect b="b" l="l" r="r" t="t"/>
            <a:pathLst>
              <a:path extrusionOk="0" h="735677" w="778574">
                <a:moveTo>
                  <a:pt x="0" y="0"/>
                </a:moveTo>
                <a:lnTo>
                  <a:pt x="778573" y="0"/>
                </a:lnTo>
                <a:lnTo>
                  <a:pt x="778573" y="735676"/>
                </a:lnTo>
                <a:lnTo>
                  <a:pt x="0" y="73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940" l="0" r="0" t="0"/>
            </a:stretch>
          </a:blipFill>
          <a:ln>
            <a:noFill/>
          </a:ln>
        </p:spPr>
      </p:sp>
      <p:sp>
        <p:nvSpPr>
          <p:cNvPr id="96" name="Google Shape;96;p14"/>
          <p:cNvSpPr txBox="1"/>
          <p:nvPr/>
        </p:nvSpPr>
        <p:spPr>
          <a:xfrm>
            <a:off x="1323532" y="5199799"/>
            <a:ext cx="629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Where we started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6750" y="676275"/>
            <a:ext cx="7124700" cy="157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9296400" y="4334916"/>
            <a:ext cx="8324850" cy="2118271"/>
            <a:chOff x="0" y="-28575"/>
            <a:chExt cx="2192553" cy="557898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2192553" cy="529323"/>
            </a:xfrm>
            <a:custGeom>
              <a:rect b="b" l="l" r="r" t="t"/>
              <a:pathLst>
                <a:path extrusionOk="0" h="529323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510724"/>
                  </a:lnTo>
                  <a:cubicBezTo>
                    <a:pt x="2192553" y="515657"/>
                    <a:pt x="2190594" y="520388"/>
                    <a:pt x="2187105" y="523876"/>
                  </a:cubicBezTo>
                  <a:cubicBezTo>
                    <a:pt x="2183617" y="527364"/>
                    <a:pt x="2178887" y="529323"/>
                    <a:pt x="2173954" y="529323"/>
                  </a:cubicBezTo>
                  <a:lnTo>
                    <a:pt x="18600" y="529323"/>
                  </a:lnTo>
                  <a:cubicBezTo>
                    <a:pt x="13667" y="529323"/>
                    <a:pt x="8936" y="527364"/>
                    <a:pt x="5448" y="523876"/>
                  </a:cubicBezTo>
                  <a:cubicBezTo>
                    <a:pt x="1960" y="520388"/>
                    <a:pt x="0" y="515657"/>
                    <a:pt x="0" y="5107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-28575"/>
              <a:ext cx="2192553" cy="5578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4"/>
          <p:cNvSpPr/>
          <p:nvPr/>
        </p:nvSpPr>
        <p:spPr>
          <a:xfrm rot="-5400000">
            <a:off x="16512143" y="5080462"/>
            <a:ext cx="778574" cy="735677"/>
          </a:xfrm>
          <a:custGeom>
            <a:rect b="b" l="l" r="r" t="t"/>
            <a:pathLst>
              <a:path extrusionOk="0" h="735677" w="778574">
                <a:moveTo>
                  <a:pt x="0" y="0"/>
                </a:moveTo>
                <a:lnTo>
                  <a:pt x="778573" y="0"/>
                </a:lnTo>
                <a:lnTo>
                  <a:pt x="778573" y="735676"/>
                </a:lnTo>
                <a:lnTo>
                  <a:pt x="0" y="73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940" l="0" r="0" t="0"/>
            </a:stretch>
          </a:blipFill>
          <a:ln>
            <a:noFill/>
          </a:ln>
        </p:spPr>
      </p:sp>
      <p:sp>
        <p:nvSpPr>
          <p:cNvPr id="102" name="Google Shape;102;p14"/>
          <p:cNvSpPr txBox="1"/>
          <p:nvPr/>
        </p:nvSpPr>
        <p:spPr>
          <a:xfrm>
            <a:off x="9953182" y="5199799"/>
            <a:ext cx="629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we did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9296400" y="6649492"/>
            <a:ext cx="8324850" cy="2118271"/>
            <a:chOff x="0" y="-28575"/>
            <a:chExt cx="2192553" cy="557898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2192553" cy="529323"/>
            </a:xfrm>
            <a:custGeom>
              <a:rect b="b" l="l" r="r" t="t"/>
              <a:pathLst>
                <a:path extrusionOk="0" h="529323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510724"/>
                  </a:lnTo>
                  <a:cubicBezTo>
                    <a:pt x="2192553" y="515657"/>
                    <a:pt x="2190594" y="520388"/>
                    <a:pt x="2187105" y="523876"/>
                  </a:cubicBezTo>
                  <a:cubicBezTo>
                    <a:pt x="2183617" y="527364"/>
                    <a:pt x="2178887" y="529323"/>
                    <a:pt x="2173954" y="529323"/>
                  </a:cubicBezTo>
                  <a:lnTo>
                    <a:pt x="18600" y="529323"/>
                  </a:lnTo>
                  <a:cubicBezTo>
                    <a:pt x="13667" y="529323"/>
                    <a:pt x="8936" y="527364"/>
                    <a:pt x="5448" y="523876"/>
                  </a:cubicBezTo>
                  <a:cubicBezTo>
                    <a:pt x="1960" y="520388"/>
                    <a:pt x="0" y="515657"/>
                    <a:pt x="0" y="5107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0" y="-28575"/>
              <a:ext cx="2192553" cy="5578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4"/>
          <p:cNvSpPr/>
          <p:nvPr/>
        </p:nvSpPr>
        <p:spPr>
          <a:xfrm rot="-5400000">
            <a:off x="16512143" y="7395037"/>
            <a:ext cx="778574" cy="735677"/>
          </a:xfrm>
          <a:custGeom>
            <a:rect b="b" l="l" r="r" t="t"/>
            <a:pathLst>
              <a:path extrusionOk="0" h="735677" w="778574">
                <a:moveTo>
                  <a:pt x="0" y="0"/>
                </a:moveTo>
                <a:lnTo>
                  <a:pt x="778573" y="0"/>
                </a:lnTo>
                <a:lnTo>
                  <a:pt x="778573" y="735676"/>
                </a:lnTo>
                <a:lnTo>
                  <a:pt x="0" y="73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940" l="0" r="0" t="0"/>
            </a:stretch>
          </a:blipFill>
          <a:ln>
            <a:noFill/>
          </a:ln>
        </p:spPr>
      </p:sp>
      <p:sp>
        <p:nvSpPr>
          <p:cNvPr id="107" name="Google Shape;107;p14"/>
          <p:cNvSpPr txBox="1"/>
          <p:nvPr/>
        </p:nvSpPr>
        <p:spPr>
          <a:xfrm>
            <a:off x="9953182" y="7473449"/>
            <a:ext cx="629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What’s next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666750" y="6649492"/>
            <a:ext cx="8324850" cy="2118271"/>
            <a:chOff x="0" y="-28575"/>
            <a:chExt cx="2192553" cy="557898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2192553" cy="529323"/>
            </a:xfrm>
            <a:custGeom>
              <a:rect b="b" l="l" r="r" t="t"/>
              <a:pathLst>
                <a:path extrusionOk="0" h="529323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510724"/>
                  </a:lnTo>
                  <a:cubicBezTo>
                    <a:pt x="2192553" y="515657"/>
                    <a:pt x="2190594" y="520388"/>
                    <a:pt x="2187105" y="523876"/>
                  </a:cubicBezTo>
                  <a:cubicBezTo>
                    <a:pt x="2183617" y="527364"/>
                    <a:pt x="2178887" y="529323"/>
                    <a:pt x="2173954" y="529323"/>
                  </a:cubicBezTo>
                  <a:lnTo>
                    <a:pt x="18600" y="529323"/>
                  </a:lnTo>
                  <a:cubicBezTo>
                    <a:pt x="13667" y="529323"/>
                    <a:pt x="8936" y="527364"/>
                    <a:pt x="5448" y="523876"/>
                  </a:cubicBezTo>
                  <a:cubicBezTo>
                    <a:pt x="1960" y="520388"/>
                    <a:pt x="0" y="515657"/>
                    <a:pt x="0" y="5107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0" y="-28575"/>
              <a:ext cx="2192553" cy="5578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 rot="-5400000">
            <a:off x="7882493" y="7395037"/>
            <a:ext cx="778574" cy="735677"/>
          </a:xfrm>
          <a:custGeom>
            <a:rect b="b" l="l" r="r" t="t"/>
            <a:pathLst>
              <a:path extrusionOk="0" h="735677" w="778574">
                <a:moveTo>
                  <a:pt x="0" y="0"/>
                </a:moveTo>
                <a:lnTo>
                  <a:pt x="778573" y="0"/>
                </a:lnTo>
                <a:lnTo>
                  <a:pt x="778573" y="735676"/>
                </a:lnTo>
                <a:lnTo>
                  <a:pt x="0" y="735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940" l="0" r="0" t="0"/>
            </a:stretch>
          </a:blipFill>
          <a:ln>
            <a:noFill/>
          </a:ln>
        </p:spPr>
      </p:sp>
      <p:sp>
        <p:nvSpPr>
          <p:cNvPr id="112" name="Google Shape;112;p14"/>
          <p:cNvSpPr txBox="1"/>
          <p:nvPr/>
        </p:nvSpPr>
        <p:spPr>
          <a:xfrm>
            <a:off x="1323532" y="7473449"/>
            <a:ext cx="629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 the numbers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9296400" y="-1218911"/>
            <a:ext cx="10087549" cy="9986674"/>
          </a:xfrm>
          <a:custGeom>
            <a:rect b="b" l="l" r="r" t="t"/>
            <a:pathLst>
              <a:path extrusionOk="0" h="9986674" w="10087549">
                <a:moveTo>
                  <a:pt x="0" y="0"/>
                </a:moveTo>
                <a:lnTo>
                  <a:pt x="10087549" y="0"/>
                </a:lnTo>
                <a:lnTo>
                  <a:pt x="10087549" y="9986673"/>
                </a:lnTo>
                <a:lnTo>
                  <a:pt x="0" y="99866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5"/>
          <p:cNvSpPr txBox="1"/>
          <p:nvPr/>
        </p:nvSpPr>
        <p:spPr>
          <a:xfrm>
            <a:off x="666750" y="676275"/>
            <a:ext cx="68865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Where we started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" y="4090987"/>
            <a:ext cx="6886575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The conditions, goals, and open questions we carried into Q3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666750" y="2795643"/>
            <a:ext cx="78180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A quarter shaped by shifting priorities</a:t>
            </a:r>
            <a:endParaRPr/>
          </a:p>
        </p:txBody>
      </p:sp>
      <p:grpSp>
        <p:nvGrpSpPr>
          <p:cNvPr id="129" name="Google Shape;129;p16"/>
          <p:cNvGrpSpPr/>
          <p:nvPr/>
        </p:nvGrpSpPr>
        <p:grpSpPr>
          <a:xfrm>
            <a:off x="9296400" y="2836664"/>
            <a:ext cx="8324850" cy="4469015"/>
            <a:chOff x="0" y="-38100"/>
            <a:chExt cx="2192553" cy="1177024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2192553" cy="1138924"/>
            </a:xfrm>
            <a:custGeom>
              <a:rect b="b" l="l" r="r" t="t"/>
              <a:pathLst>
                <a:path extrusionOk="0" h="1138924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1120324"/>
                  </a:lnTo>
                  <a:cubicBezTo>
                    <a:pt x="2192553" y="1125257"/>
                    <a:pt x="2190594" y="1129988"/>
                    <a:pt x="2187105" y="1133476"/>
                  </a:cubicBezTo>
                  <a:cubicBezTo>
                    <a:pt x="2183617" y="1136964"/>
                    <a:pt x="2178887" y="1138924"/>
                    <a:pt x="2173954" y="1138924"/>
                  </a:cubicBezTo>
                  <a:lnTo>
                    <a:pt x="18600" y="1138924"/>
                  </a:lnTo>
                  <a:cubicBezTo>
                    <a:pt x="13667" y="1138924"/>
                    <a:pt x="8936" y="1136964"/>
                    <a:pt x="5448" y="1133476"/>
                  </a:cubicBezTo>
                  <a:cubicBezTo>
                    <a:pt x="1960" y="1129988"/>
                    <a:pt x="0" y="1125257"/>
                    <a:pt x="0" y="11203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0" y="-38100"/>
              <a:ext cx="2192553" cy="1177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6"/>
          <p:cNvSpPr txBox="1"/>
          <p:nvPr/>
        </p:nvSpPr>
        <p:spPr>
          <a:xfrm>
            <a:off x="10103880" y="3504551"/>
            <a:ext cx="67098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entered Q3 2035 with three clear goals: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3" lvl="1" marL="43180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Stabilize delivery timelines</a:t>
            </a:r>
            <a:endParaRPr/>
          </a:p>
          <a:p>
            <a:pPr indent="-215903" lvl="1" marL="43180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 cross-team visibility</a:t>
            </a:r>
            <a:endParaRPr/>
          </a:p>
          <a:p>
            <a:pPr indent="-215903" lvl="1" marL="43180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Close the gap on customer response time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Early indicators suggested momentum was there, but so were real constraints on resourcing.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CCCF2"/>
            </a:gs>
            <a:gs pos="100000">
              <a:srgbClr val="F9F6EA"/>
            </a:gs>
          </a:gsLst>
          <a:lin ang="5400000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666750" y="676275"/>
            <a:ext cx="11323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What we did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732350" y="7681838"/>
            <a:ext cx="68889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The initiatives, changes, and team efforts that defined the quarter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 rot="9694979">
            <a:off x="9388354" y="1293887"/>
            <a:ext cx="7827627" cy="4813991"/>
          </a:xfrm>
          <a:custGeom>
            <a:rect b="b" l="l" r="r" t="t"/>
            <a:pathLst>
              <a:path extrusionOk="0" h="4813991" w="7827627">
                <a:moveTo>
                  <a:pt x="0" y="0"/>
                </a:moveTo>
                <a:lnTo>
                  <a:pt x="7827627" y="0"/>
                </a:lnTo>
                <a:lnTo>
                  <a:pt x="7827627" y="4813991"/>
                </a:lnTo>
                <a:lnTo>
                  <a:pt x="0" y="4813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7"/>
          <p:cNvSpPr/>
          <p:nvPr/>
        </p:nvSpPr>
        <p:spPr>
          <a:xfrm rot="-1105020">
            <a:off x="1072019" y="3988622"/>
            <a:ext cx="7827627" cy="4813991"/>
          </a:xfrm>
          <a:custGeom>
            <a:rect b="b" l="l" r="r" t="t"/>
            <a:pathLst>
              <a:path extrusionOk="0" h="4813991" w="7827627">
                <a:moveTo>
                  <a:pt x="0" y="0"/>
                </a:moveTo>
                <a:lnTo>
                  <a:pt x="7827627" y="0"/>
                </a:lnTo>
                <a:lnTo>
                  <a:pt x="7827627" y="4813991"/>
                </a:lnTo>
                <a:lnTo>
                  <a:pt x="0" y="48139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7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666750" y="666750"/>
            <a:ext cx="11201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Three moves that shaped our progress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666750" y="3689152"/>
            <a:ext cx="5448300" cy="5626302"/>
            <a:chOff x="0" y="-38100"/>
            <a:chExt cx="1434943" cy="1481824"/>
          </a:xfrm>
        </p:grpSpPr>
        <p:sp>
          <p:nvSpPr>
            <p:cNvPr id="151" name="Google Shape;151;p18"/>
            <p:cNvSpPr/>
            <p:nvPr/>
          </p:nvSpPr>
          <p:spPr>
            <a:xfrm>
              <a:off x="0" y="0"/>
              <a:ext cx="1434943" cy="1443724"/>
            </a:xfrm>
            <a:custGeom>
              <a:rect b="b" l="l" r="r" t="t"/>
              <a:pathLst>
                <a:path extrusionOk="0" h="1443724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415304"/>
                  </a:lnTo>
                  <a:cubicBezTo>
                    <a:pt x="1434943" y="1431000"/>
                    <a:pt x="1422219" y="1443724"/>
                    <a:pt x="1406524" y="1443724"/>
                  </a:cubicBezTo>
                  <a:lnTo>
                    <a:pt x="28420" y="1443724"/>
                  </a:lnTo>
                  <a:cubicBezTo>
                    <a:pt x="12724" y="1443724"/>
                    <a:pt x="0" y="1431000"/>
                    <a:pt x="0" y="141530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0" y="-38100"/>
              <a:ext cx="1434943" cy="148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8"/>
          <p:cNvSpPr txBox="1"/>
          <p:nvPr/>
        </p:nvSpPr>
        <p:spPr>
          <a:xfrm>
            <a:off x="1142215" y="4314769"/>
            <a:ext cx="4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Streamlined handoffs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142215" y="6727763"/>
            <a:ext cx="4497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We restructured how work moves between teams, cutting the average handoff delay significantly. This reduced bottlenecks that had slowed delivery in prior quarters.</a:t>
            </a:r>
            <a:endParaRPr/>
          </a:p>
        </p:txBody>
      </p:sp>
      <p:grpSp>
        <p:nvGrpSpPr>
          <p:cNvPr id="155" name="Google Shape;155;p18"/>
          <p:cNvGrpSpPr/>
          <p:nvPr/>
        </p:nvGrpSpPr>
        <p:grpSpPr>
          <a:xfrm>
            <a:off x="6419850" y="3689152"/>
            <a:ext cx="5448300" cy="5626302"/>
            <a:chOff x="0" y="-38100"/>
            <a:chExt cx="1434943" cy="1481824"/>
          </a:xfrm>
        </p:grpSpPr>
        <p:sp>
          <p:nvSpPr>
            <p:cNvPr id="156" name="Google Shape;156;p18"/>
            <p:cNvSpPr/>
            <p:nvPr/>
          </p:nvSpPr>
          <p:spPr>
            <a:xfrm>
              <a:off x="0" y="0"/>
              <a:ext cx="1434943" cy="1443724"/>
            </a:xfrm>
            <a:custGeom>
              <a:rect b="b" l="l" r="r" t="t"/>
              <a:pathLst>
                <a:path extrusionOk="0" h="1443724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415304"/>
                  </a:lnTo>
                  <a:cubicBezTo>
                    <a:pt x="1434943" y="1431000"/>
                    <a:pt x="1422219" y="1443724"/>
                    <a:pt x="1406524" y="1443724"/>
                  </a:cubicBezTo>
                  <a:lnTo>
                    <a:pt x="28420" y="1443724"/>
                  </a:lnTo>
                  <a:cubicBezTo>
                    <a:pt x="12724" y="1443724"/>
                    <a:pt x="0" y="1431000"/>
                    <a:pt x="0" y="141530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0" y="-38100"/>
              <a:ext cx="1434943" cy="148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8"/>
          <p:cNvSpPr txBox="1"/>
          <p:nvPr/>
        </p:nvSpPr>
        <p:spPr>
          <a:xfrm>
            <a:off x="6895315" y="4314769"/>
            <a:ext cx="4497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Shared reporting cadence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895315" y="6727763"/>
            <a:ext cx="4497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A weekly cross-team sync replaced siloed updates, giving every group visibility into shared priorities. This made it easier to catch blockers before they became delays.</a:t>
            </a:r>
            <a:endParaRPr/>
          </a:p>
        </p:txBody>
      </p:sp>
      <p:grpSp>
        <p:nvGrpSpPr>
          <p:cNvPr id="160" name="Google Shape;160;p18"/>
          <p:cNvGrpSpPr/>
          <p:nvPr/>
        </p:nvGrpSpPr>
        <p:grpSpPr>
          <a:xfrm>
            <a:off x="12172950" y="3689152"/>
            <a:ext cx="5448300" cy="5626302"/>
            <a:chOff x="0" y="-38100"/>
            <a:chExt cx="1434943" cy="1481824"/>
          </a:xfrm>
        </p:grpSpPr>
        <p:sp>
          <p:nvSpPr>
            <p:cNvPr id="161" name="Google Shape;161;p18"/>
            <p:cNvSpPr/>
            <p:nvPr/>
          </p:nvSpPr>
          <p:spPr>
            <a:xfrm>
              <a:off x="0" y="0"/>
              <a:ext cx="1434943" cy="1443724"/>
            </a:xfrm>
            <a:custGeom>
              <a:rect b="b" l="l" r="r" t="t"/>
              <a:pathLst>
                <a:path extrusionOk="0" h="1443724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415304"/>
                  </a:lnTo>
                  <a:cubicBezTo>
                    <a:pt x="1434943" y="1431000"/>
                    <a:pt x="1422219" y="1443724"/>
                    <a:pt x="1406524" y="1443724"/>
                  </a:cubicBezTo>
                  <a:lnTo>
                    <a:pt x="28420" y="1443724"/>
                  </a:lnTo>
                  <a:cubicBezTo>
                    <a:pt x="12724" y="1443724"/>
                    <a:pt x="0" y="1431000"/>
                    <a:pt x="0" y="141530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0" y="-38100"/>
              <a:ext cx="1434943" cy="148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8"/>
          <p:cNvSpPr txBox="1"/>
          <p:nvPr/>
        </p:nvSpPr>
        <p:spPr>
          <a:xfrm>
            <a:off x="12648415" y="4314769"/>
            <a:ext cx="4497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Faster response protocols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2648415" y="6727763"/>
            <a:ext cx="4497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We rebuilt our response workflow to prioritize urgent requests automatically. This helped close a long-standing gap in customer response times.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CCCF2"/>
            </a:gs>
            <a:gs pos="100000">
              <a:srgbClr val="F9F6EA"/>
            </a:gs>
          </a:gsLst>
          <a:lin ang="5400000" scaled="0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1028700" y="1473179"/>
            <a:ext cx="7600950" cy="6802850"/>
          </a:xfrm>
          <a:custGeom>
            <a:rect b="b" l="l" r="r" t="t"/>
            <a:pathLst>
              <a:path extrusionOk="0" h="6802850" w="7600950">
                <a:moveTo>
                  <a:pt x="0" y="0"/>
                </a:moveTo>
                <a:lnTo>
                  <a:pt x="7600950" y="0"/>
                </a:lnTo>
                <a:lnTo>
                  <a:pt x="7600950" y="6802850"/>
                </a:lnTo>
                <a:lnTo>
                  <a:pt x="0" y="6802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9"/>
          <p:cNvSpPr txBox="1"/>
          <p:nvPr/>
        </p:nvSpPr>
        <p:spPr>
          <a:xfrm>
            <a:off x="10734675" y="2927850"/>
            <a:ext cx="6811800" cy="28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93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By the numbers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0734675" y="6301307"/>
            <a:ext cx="57531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A closer look at what moved, and by how much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0"/>
          <p:cNvGrpSpPr/>
          <p:nvPr/>
        </p:nvGrpSpPr>
        <p:grpSpPr>
          <a:xfrm>
            <a:off x="666750" y="522089"/>
            <a:ext cx="8324850" cy="9098165"/>
            <a:chOff x="0" y="-38100"/>
            <a:chExt cx="2192553" cy="2396224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0"/>
              <a:ext cx="2192553" cy="2358124"/>
            </a:xfrm>
            <a:custGeom>
              <a:rect b="b" l="l" r="r" t="t"/>
              <a:pathLst>
                <a:path extrusionOk="0" h="2358124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2320924"/>
                  </a:lnTo>
                  <a:cubicBezTo>
                    <a:pt x="2192553" y="2330790"/>
                    <a:pt x="2188634" y="2340252"/>
                    <a:pt x="2181658" y="2347228"/>
                  </a:cubicBezTo>
                  <a:cubicBezTo>
                    <a:pt x="2174682" y="2354204"/>
                    <a:pt x="2165220" y="2358124"/>
                    <a:pt x="2155354" y="2358124"/>
                  </a:cubicBezTo>
                  <a:lnTo>
                    <a:pt x="37199" y="2358124"/>
                  </a:lnTo>
                  <a:cubicBezTo>
                    <a:pt x="27333" y="2358124"/>
                    <a:pt x="17872" y="2354204"/>
                    <a:pt x="10895" y="2347228"/>
                  </a:cubicBezTo>
                  <a:cubicBezTo>
                    <a:pt x="3919" y="2340252"/>
                    <a:pt x="0" y="2330790"/>
                    <a:pt x="0" y="232092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0" y="-38100"/>
              <a:ext cx="2192553" cy="2396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20"/>
          <p:cNvSpPr/>
          <p:nvPr/>
        </p:nvSpPr>
        <p:spPr>
          <a:xfrm flipH="1" rot="9743694">
            <a:off x="3505895" y="5839804"/>
            <a:ext cx="5218310" cy="2931741"/>
          </a:xfrm>
          <a:custGeom>
            <a:rect b="b" l="l" r="r" t="t"/>
            <a:pathLst>
              <a:path extrusionOk="0" h="2931741" w="5218310">
                <a:moveTo>
                  <a:pt x="0" y="2931742"/>
                </a:moveTo>
                <a:lnTo>
                  <a:pt x="5218310" y="2931742"/>
                </a:lnTo>
                <a:lnTo>
                  <a:pt x="5218310" y="0"/>
                </a:lnTo>
                <a:lnTo>
                  <a:pt x="0" y="0"/>
                </a:lnTo>
                <a:lnTo>
                  <a:pt x="0" y="293174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20"/>
          <p:cNvSpPr txBox="1"/>
          <p:nvPr/>
        </p:nvSpPr>
        <p:spPr>
          <a:xfrm>
            <a:off x="10715625" y="6411875"/>
            <a:ext cx="5979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This improvement reflects the direct impact of streamlined handoffs and clearer ownership across teams; the strongest on-time rate recorded in the past four quarters.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219200" y="4614000"/>
            <a:ext cx="431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On-time delivery rate, up from 78% in Q2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028700" y="457219"/>
            <a:ext cx="7464973" cy="4248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92%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/>
        </p:nvSpPr>
        <p:spPr>
          <a:xfrm>
            <a:off x="669118" y="4138612"/>
            <a:ext cx="2874182" cy="45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Q4 2034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69118" y="6872269"/>
            <a:ext cx="3048000" cy="692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Starting point for the reporting period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983943" y="4138612"/>
            <a:ext cx="2876550" cy="45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Q1 2035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981575" y="6872269"/>
            <a:ext cx="3048000" cy="104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Improved by 2 percentage points from the previous quarter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66750" y="709600"/>
            <a:ext cx="16793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Delivery performance over time</a:t>
            </a:r>
            <a:endParaRPr/>
          </a:p>
        </p:txBody>
      </p:sp>
      <p:cxnSp>
        <p:nvCxnSpPr>
          <p:cNvPr id="197" name="Google Shape;197;p21"/>
          <p:cNvCxnSpPr/>
          <p:nvPr/>
        </p:nvCxnSpPr>
        <p:spPr>
          <a:xfrm>
            <a:off x="990600" y="5135725"/>
            <a:ext cx="17609744" cy="0"/>
          </a:xfrm>
          <a:prstGeom prst="straightConnector1">
            <a:avLst/>
          </a:prstGeom>
          <a:noFill/>
          <a:ln cap="flat" cmpd="sng" w="19050">
            <a:solidFill>
              <a:srgbClr val="385F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1"/>
          <p:cNvSpPr/>
          <p:nvPr/>
        </p:nvSpPr>
        <p:spPr>
          <a:xfrm>
            <a:off x="666750" y="497380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385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4981575" y="497380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385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9296400" y="497380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385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13611225" y="4973800"/>
            <a:ext cx="323850" cy="3238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385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298768" y="4138612"/>
            <a:ext cx="2876550" cy="45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Q2 2035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298768" y="6872269"/>
            <a:ext cx="3048000" cy="1044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Steady increase continued through the second quarter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3613593" y="4138612"/>
            <a:ext cx="2895600" cy="45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Q3 2035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3613593" y="6872269"/>
            <a:ext cx="3048000" cy="1397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Strong improvement, reaching the highest on-time delivery rate in the period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6750" y="2152613"/>
            <a:ext cx="15516225" cy="5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Tracking on-time delivery rate across the last four quarters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66750" y="5652397"/>
            <a:ext cx="2876550" cy="95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74%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981575" y="5652397"/>
            <a:ext cx="2876550" cy="95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76%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296400" y="5633021"/>
            <a:ext cx="2876550" cy="95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78%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3611225" y="5652397"/>
            <a:ext cx="2895600" cy="95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92%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/>
        </p:nvSpPr>
        <p:spPr>
          <a:xfrm>
            <a:off x="666750" y="666750"/>
            <a:ext cx="6886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Response time by team</a:t>
            </a:r>
            <a:endParaRPr/>
          </a:p>
        </p:txBody>
      </p:sp>
      <p:graphicFrame>
        <p:nvGraphicFramePr>
          <p:cNvPr id="218" name="Google Shape;218;p22"/>
          <p:cNvGraphicFramePr/>
          <p:nvPr/>
        </p:nvGraphicFramePr>
        <p:xfrm>
          <a:off x="666750" y="3833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{AF43573D-4223-490B-B76A-60D7008FF81A}</a:tableStyleId>
              </a:tblPr>
              <a:tblGrid>
                <a:gridCol w="2571750"/>
                <a:gridCol w="4787900"/>
                <a:gridCol w="4787900"/>
                <a:gridCol w="4787900"/>
              </a:tblGrid>
              <a:tr h="105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Rank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Team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Response time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Summary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</a:tr>
              <a:tr h="105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Support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2.1 hrs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Fastest response time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Success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3.4 hrs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1.3 hrs slower than Support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Operations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4.8 hrs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Opportunity to improve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5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5.6 hrs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Longest response time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2"/>
          <p:cNvSpPr txBox="1"/>
          <p:nvPr/>
        </p:nvSpPr>
        <p:spPr>
          <a:xfrm>
            <a:off x="12172950" y="1766888"/>
            <a:ext cx="54483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Response time data was pulled from our shared ticketing system and reflects average first-response time per team.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CCCF2"/>
            </a:gs>
            <a:gs pos="100000">
              <a:srgbClr val="F9F6EA"/>
            </a:gs>
          </a:gsLst>
          <a:lin ang="5400000" scaled="0"/>
        </a:gra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/>
        </p:nvSpPr>
        <p:spPr>
          <a:xfrm>
            <a:off x="666750" y="666750"/>
            <a:ext cx="16954500" cy="1219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Key milestones this quarter</a:t>
            </a:r>
            <a:endParaRPr/>
          </a:p>
        </p:txBody>
      </p:sp>
      <p:grpSp>
        <p:nvGrpSpPr>
          <p:cNvPr id="227" name="Google Shape;227;p23"/>
          <p:cNvGrpSpPr/>
          <p:nvPr/>
        </p:nvGrpSpPr>
        <p:grpSpPr>
          <a:xfrm>
            <a:off x="666750" y="3689152"/>
            <a:ext cx="5448300" cy="5626302"/>
            <a:chOff x="0" y="-38100"/>
            <a:chExt cx="1434943" cy="1481824"/>
          </a:xfrm>
        </p:grpSpPr>
        <p:sp>
          <p:nvSpPr>
            <p:cNvPr id="228" name="Google Shape;228;p23"/>
            <p:cNvSpPr/>
            <p:nvPr/>
          </p:nvSpPr>
          <p:spPr>
            <a:xfrm>
              <a:off x="0" y="0"/>
              <a:ext cx="1434943" cy="1443724"/>
            </a:xfrm>
            <a:custGeom>
              <a:rect b="b" l="l" r="r" t="t"/>
              <a:pathLst>
                <a:path extrusionOk="0" h="1443724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415304"/>
                  </a:lnTo>
                  <a:cubicBezTo>
                    <a:pt x="1434943" y="1431000"/>
                    <a:pt x="1422219" y="1443724"/>
                    <a:pt x="1406524" y="1443724"/>
                  </a:cubicBezTo>
                  <a:lnTo>
                    <a:pt x="28420" y="1443724"/>
                  </a:lnTo>
                  <a:cubicBezTo>
                    <a:pt x="12724" y="1443724"/>
                    <a:pt x="0" y="1431000"/>
                    <a:pt x="0" y="141530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3"/>
            <p:cNvSpPr txBox="1"/>
            <p:nvPr/>
          </p:nvSpPr>
          <p:spPr>
            <a:xfrm>
              <a:off x="0" y="-38100"/>
              <a:ext cx="1434943" cy="148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23"/>
          <p:cNvSpPr txBox="1"/>
          <p:nvPr/>
        </p:nvSpPr>
        <p:spPr>
          <a:xfrm>
            <a:off x="1142215" y="4329194"/>
            <a:ext cx="4497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New handoff process launched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142215" y="6727788"/>
            <a:ext cx="4497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Rolled out in early Q3, this became the foundation for reduced delays across teams and set the tone for the improvements that followed.</a:t>
            </a:r>
            <a:endParaRPr/>
          </a:p>
        </p:txBody>
      </p:sp>
      <p:grpSp>
        <p:nvGrpSpPr>
          <p:cNvPr id="232" name="Google Shape;232;p23"/>
          <p:cNvGrpSpPr/>
          <p:nvPr/>
        </p:nvGrpSpPr>
        <p:grpSpPr>
          <a:xfrm>
            <a:off x="6419850" y="3689152"/>
            <a:ext cx="5448300" cy="5626302"/>
            <a:chOff x="0" y="-38100"/>
            <a:chExt cx="1434943" cy="1481824"/>
          </a:xfrm>
        </p:grpSpPr>
        <p:sp>
          <p:nvSpPr>
            <p:cNvPr id="233" name="Google Shape;233;p23"/>
            <p:cNvSpPr/>
            <p:nvPr/>
          </p:nvSpPr>
          <p:spPr>
            <a:xfrm>
              <a:off x="0" y="0"/>
              <a:ext cx="1434943" cy="1443724"/>
            </a:xfrm>
            <a:custGeom>
              <a:rect b="b" l="l" r="r" t="t"/>
              <a:pathLst>
                <a:path extrusionOk="0" h="1443724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415304"/>
                  </a:lnTo>
                  <a:cubicBezTo>
                    <a:pt x="1434943" y="1431000"/>
                    <a:pt x="1422219" y="1443724"/>
                    <a:pt x="1406524" y="1443724"/>
                  </a:cubicBezTo>
                  <a:lnTo>
                    <a:pt x="28420" y="1443724"/>
                  </a:lnTo>
                  <a:cubicBezTo>
                    <a:pt x="12724" y="1443724"/>
                    <a:pt x="0" y="1431000"/>
                    <a:pt x="0" y="141530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0" y="-38100"/>
              <a:ext cx="1434943" cy="148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23"/>
          <p:cNvSpPr txBox="1"/>
          <p:nvPr/>
        </p:nvSpPr>
        <p:spPr>
          <a:xfrm>
            <a:off x="6895315" y="4329194"/>
            <a:ext cx="4497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Cross-team sync introduced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895315" y="6727788"/>
            <a:ext cx="4497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A recurring shared reporting cadence began mid-quarter, closing long-standing visibility gaps between teams working on related priorities.</a:t>
            </a:r>
            <a:endParaRPr/>
          </a:p>
        </p:txBody>
      </p:sp>
      <p:grpSp>
        <p:nvGrpSpPr>
          <p:cNvPr id="237" name="Google Shape;237;p23"/>
          <p:cNvGrpSpPr/>
          <p:nvPr/>
        </p:nvGrpSpPr>
        <p:grpSpPr>
          <a:xfrm>
            <a:off x="12172950" y="3689152"/>
            <a:ext cx="5448300" cy="5626302"/>
            <a:chOff x="0" y="-38100"/>
            <a:chExt cx="1434943" cy="1481824"/>
          </a:xfrm>
        </p:grpSpPr>
        <p:sp>
          <p:nvSpPr>
            <p:cNvPr id="238" name="Google Shape;238;p23"/>
            <p:cNvSpPr/>
            <p:nvPr/>
          </p:nvSpPr>
          <p:spPr>
            <a:xfrm>
              <a:off x="0" y="0"/>
              <a:ext cx="1434943" cy="1443724"/>
            </a:xfrm>
            <a:custGeom>
              <a:rect b="b" l="l" r="r" t="t"/>
              <a:pathLst>
                <a:path extrusionOk="0" h="1443724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415304"/>
                  </a:lnTo>
                  <a:cubicBezTo>
                    <a:pt x="1434943" y="1431000"/>
                    <a:pt x="1422219" y="1443724"/>
                    <a:pt x="1406524" y="1443724"/>
                  </a:cubicBezTo>
                  <a:lnTo>
                    <a:pt x="28420" y="1443724"/>
                  </a:lnTo>
                  <a:cubicBezTo>
                    <a:pt x="12724" y="1443724"/>
                    <a:pt x="0" y="1431000"/>
                    <a:pt x="0" y="1415304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0" y="-38100"/>
              <a:ext cx="1434943" cy="1481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23"/>
          <p:cNvSpPr txBox="1"/>
          <p:nvPr/>
        </p:nvSpPr>
        <p:spPr>
          <a:xfrm>
            <a:off x="12648415" y="4329194"/>
            <a:ext cx="44973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Response time milestone reached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2648415" y="6727788"/>
            <a:ext cx="4497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By quarter-end, average response times had dropped enough to meet the internal target set at the start of Q3, closing out the quarter on a high note.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4"/>
          <p:cNvGrpSpPr/>
          <p:nvPr/>
        </p:nvGrpSpPr>
        <p:grpSpPr>
          <a:xfrm>
            <a:off x="9296400" y="522089"/>
            <a:ext cx="8324850" cy="9098165"/>
            <a:chOff x="0" y="-38100"/>
            <a:chExt cx="2192553" cy="2396224"/>
          </a:xfrm>
        </p:grpSpPr>
        <p:sp>
          <p:nvSpPr>
            <p:cNvPr id="249" name="Google Shape;249;p24"/>
            <p:cNvSpPr/>
            <p:nvPr/>
          </p:nvSpPr>
          <p:spPr>
            <a:xfrm>
              <a:off x="0" y="0"/>
              <a:ext cx="2192553" cy="2358124"/>
            </a:xfrm>
            <a:custGeom>
              <a:rect b="b" l="l" r="r" t="t"/>
              <a:pathLst>
                <a:path extrusionOk="0" h="2358124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2339524"/>
                  </a:lnTo>
                  <a:cubicBezTo>
                    <a:pt x="2192553" y="2344457"/>
                    <a:pt x="2190594" y="2349188"/>
                    <a:pt x="2187105" y="2352676"/>
                  </a:cubicBezTo>
                  <a:cubicBezTo>
                    <a:pt x="2183617" y="2356164"/>
                    <a:pt x="2178887" y="2358124"/>
                    <a:pt x="2173954" y="2358124"/>
                  </a:cubicBezTo>
                  <a:lnTo>
                    <a:pt x="18600" y="2358124"/>
                  </a:lnTo>
                  <a:cubicBezTo>
                    <a:pt x="13667" y="2358124"/>
                    <a:pt x="8936" y="2356164"/>
                    <a:pt x="5448" y="2352676"/>
                  </a:cubicBezTo>
                  <a:cubicBezTo>
                    <a:pt x="1960" y="2349188"/>
                    <a:pt x="0" y="2344457"/>
                    <a:pt x="0" y="23395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 txBox="1"/>
            <p:nvPr/>
          </p:nvSpPr>
          <p:spPr>
            <a:xfrm>
              <a:off x="0" y="-38100"/>
              <a:ext cx="2192553" cy="2396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4"/>
          <p:cNvSpPr/>
          <p:nvPr/>
        </p:nvSpPr>
        <p:spPr>
          <a:xfrm>
            <a:off x="10139362" y="1824038"/>
            <a:ext cx="6638925" cy="6638925"/>
          </a:xfrm>
          <a:custGeom>
            <a:rect b="b" l="l" r="r" t="t"/>
            <a:pathLst>
              <a:path extrusionOk="0" h="6638925" w="6638925">
                <a:moveTo>
                  <a:pt x="0" y="0"/>
                </a:moveTo>
                <a:lnTo>
                  <a:pt x="6638926" y="0"/>
                </a:lnTo>
                <a:lnTo>
                  <a:pt x="6638926" y="6638924"/>
                </a:lnTo>
                <a:lnTo>
                  <a:pt x="0" y="6638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24"/>
          <p:cNvSpPr txBox="1"/>
          <p:nvPr/>
        </p:nvSpPr>
        <p:spPr>
          <a:xfrm>
            <a:off x="666750" y="3419512"/>
            <a:ext cx="8324850" cy="157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What’s next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666750" y="5248275"/>
            <a:ext cx="43149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The priorities that will shape Q4 planning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/>
        </p:nvSpPr>
        <p:spPr>
          <a:xfrm>
            <a:off x="666750" y="2795588"/>
            <a:ext cx="6734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Where we focus next</a:t>
            </a:r>
            <a:endParaRPr/>
          </a:p>
        </p:txBody>
      </p:sp>
      <p:grpSp>
        <p:nvGrpSpPr>
          <p:cNvPr id="260" name="Google Shape;260;p25"/>
          <p:cNvGrpSpPr/>
          <p:nvPr/>
        </p:nvGrpSpPr>
        <p:grpSpPr>
          <a:xfrm>
            <a:off x="9296400" y="2836664"/>
            <a:ext cx="8324850" cy="4469015"/>
            <a:chOff x="0" y="-38100"/>
            <a:chExt cx="2192553" cy="1177024"/>
          </a:xfrm>
        </p:grpSpPr>
        <p:sp>
          <p:nvSpPr>
            <p:cNvPr id="261" name="Google Shape;261;p25"/>
            <p:cNvSpPr/>
            <p:nvPr/>
          </p:nvSpPr>
          <p:spPr>
            <a:xfrm>
              <a:off x="0" y="0"/>
              <a:ext cx="2192553" cy="1138924"/>
            </a:xfrm>
            <a:custGeom>
              <a:rect b="b" l="l" r="r" t="t"/>
              <a:pathLst>
                <a:path extrusionOk="0" h="1138924" w="2192553">
                  <a:moveTo>
                    <a:pt x="18600" y="0"/>
                  </a:moveTo>
                  <a:lnTo>
                    <a:pt x="2173954" y="0"/>
                  </a:lnTo>
                  <a:cubicBezTo>
                    <a:pt x="2178887" y="0"/>
                    <a:pt x="2183617" y="1960"/>
                    <a:pt x="2187105" y="5448"/>
                  </a:cubicBezTo>
                  <a:cubicBezTo>
                    <a:pt x="2190594" y="8936"/>
                    <a:pt x="2192553" y="13667"/>
                    <a:pt x="2192553" y="18600"/>
                  </a:cubicBezTo>
                  <a:lnTo>
                    <a:pt x="2192553" y="1120324"/>
                  </a:lnTo>
                  <a:cubicBezTo>
                    <a:pt x="2192553" y="1125257"/>
                    <a:pt x="2190594" y="1129988"/>
                    <a:pt x="2187105" y="1133476"/>
                  </a:cubicBezTo>
                  <a:cubicBezTo>
                    <a:pt x="2183617" y="1136964"/>
                    <a:pt x="2178887" y="1138924"/>
                    <a:pt x="2173954" y="1138924"/>
                  </a:cubicBezTo>
                  <a:lnTo>
                    <a:pt x="18600" y="1138924"/>
                  </a:lnTo>
                  <a:cubicBezTo>
                    <a:pt x="13667" y="1138924"/>
                    <a:pt x="8936" y="1136964"/>
                    <a:pt x="5448" y="1133476"/>
                  </a:cubicBezTo>
                  <a:cubicBezTo>
                    <a:pt x="1960" y="1129988"/>
                    <a:pt x="0" y="1125257"/>
                    <a:pt x="0" y="1120324"/>
                  </a:cubicBezTo>
                  <a:lnTo>
                    <a:pt x="0" y="18600"/>
                  </a:lnTo>
                  <a:cubicBezTo>
                    <a:pt x="0" y="13667"/>
                    <a:pt x="1960" y="8936"/>
                    <a:pt x="5448" y="5448"/>
                  </a:cubicBezTo>
                  <a:cubicBezTo>
                    <a:pt x="8936" y="1960"/>
                    <a:pt x="13667" y="0"/>
                    <a:pt x="186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 txBox="1"/>
            <p:nvPr/>
          </p:nvSpPr>
          <p:spPr>
            <a:xfrm>
              <a:off x="0" y="-38100"/>
              <a:ext cx="2192553" cy="1177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25"/>
          <p:cNvSpPr txBox="1"/>
          <p:nvPr/>
        </p:nvSpPr>
        <p:spPr>
          <a:xfrm>
            <a:off x="9925513" y="3837125"/>
            <a:ext cx="70665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Heading into Q4 2035, our priority is closing the remaining gap in cross-team sync adoption, particularly for teams managing longer project cycles.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goal is to turn this quarter’s gains into a consistent standard, not a one-time spike.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/>
        </p:nvSpPr>
        <p:spPr>
          <a:xfrm>
            <a:off x="666750" y="666750"/>
            <a:ext cx="14170451" cy="1219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Q3 performance summary</a:t>
            </a:r>
            <a:endParaRPr/>
          </a:p>
        </p:txBody>
      </p:sp>
      <p:graphicFrame>
        <p:nvGraphicFramePr>
          <p:cNvPr id="271" name="Google Shape;271;p26"/>
          <p:cNvGraphicFramePr/>
          <p:nvPr/>
        </p:nvGraphicFramePr>
        <p:xfrm>
          <a:off x="666750" y="3833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{AF43573D-4223-490B-B76A-60D7008FF81A}</a:tableStyleId>
              </a:tblPr>
              <a:tblGrid>
                <a:gridCol w="4238625"/>
                <a:gridCol w="4238625"/>
                <a:gridCol w="4238625"/>
                <a:gridCol w="4238625"/>
              </a:tblGrid>
              <a:tr h="110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Q2 2035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Q3 2035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Change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CCF2"/>
                    </a:solidFill>
                  </a:tcPr>
                </a:tc>
              </a:tr>
              <a:tr h="137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On-time delivery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78%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92%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+14 points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7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Average response time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5.2 hours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4.0 hours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-1.2 hours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7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Cross-team sync adoption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41%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88%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8291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+47 points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6EC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6"/>
          <p:cNvSpPr txBox="1"/>
          <p:nvPr/>
        </p:nvSpPr>
        <p:spPr>
          <a:xfrm>
            <a:off x="14573250" y="971550"/>
            <a:ext cx="30289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Key metrics compared against Q2 results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3306425" y="9663384"/>
            <a:ext cx="4314825" cy="2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sng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Back to agenda page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/>
        </p:nvSpPr>
        <p:spPr>
          <a:xfrm>
            <a:off x="666750" y="666750"/>
            <a:ext cx="6711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Reach out for any questions.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666750" y="6129338"/>
            <a:ext cx="5753100" cy="641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hello@reallygreatsite.com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666750" y="7286625"/>
            <a:ext cx="5753100" cy="641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Social media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@reallygreatsite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666750" y="8443912"/>
            <a:ext cx="5753100" cy="641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 number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123-456-7890</a:t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10734675" y="666750"/>
            <a:ext cx="6886575" cy="8953500"/>
          </a:xfrm>
          <a:custGeom>
            <a:rect b="b" l="l" r="r" t="t"/>
            <a:pathLst>
              <a:path extrusionOk="0" h="8953500" w="6886575">
                <a:moveTo>
                  <a:pt x="0" y="0"/>
                </a:moveTo>
                <a:lnTo>
                  <a:pt x="6886575" y="0"/>
                </a:lnTo>
                <a:lnTo>
                  <a:pt x="6886575" y="8953500"/>
                </a:lnTo>
                <a:lnTo>
                  <a:pt x="0" y="895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362" l="-1821" r="-11398" t="-50639"/>
            </a:stretch>
          </a:blipFill>
          <a:ln>
            <a:noFill/>
          </a:ln>
        </p:spPr>
      </p:sp>
      <p:sp>
        <p:nvSpPr>
          <p:cNvPr id="284" name="Google Shape;284;p27"/>
          <p:cNvSpPr txBox="1"/>
          <p:nvPr/>
        </p:nvSpPr>
        <p:spPr>
          <a:xfrm>
            <a:off x="666750" y="9591675"/>
            <a:ext cx="5753100" cy="264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Q3 2035 BUSINESS REVIEW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8"/>
          <p:cNvGrpSpPr/>
          <p:nvPr/>
        </p:nvGrpSpPr>
        <p:grpSpPr>
          <a:xfrm>
            <a:off x="666750" y="2568029"/>
            <a:ext cx="5448300" cy="7052221"/>
            <a:chOff x="0" y="-28575"/>
            <a:chExt cx="1434943" cy="1857375"/>
          </a:xfrm>
        </p:grpSpPr>
        <p:sp>
          <p:nvSpPr>
            <p:cNvPr id="290" name="Google Shape;290;p28"/>
            <p:cNvSpPr/>
            <p:nvPr/>
          </p:nvSpPr>
          <p:spPr>
            <a:xfrm>
              <a:off x="0" y="0"/>
              <a:ext cx="1434943" cy="1828800"/>
            </a:xfrm>
            <a:custGeom>
              <a:rect b="b" l="l" r="r" t="t"/>
              <a:pathLst>
                <a:path extrusionOk="0" h="1828800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800380"/>
                  </a:lnTo>
                  <a:cubicBezTo>
                    <a:pt x="1434943" y="1816076"/>
                    <a:pt x="1422219" y="1828800"/>
                    <a:pt x="1406524" y="1828800"/>
                  </a:cubicBezTo>
                  <a:lnTo>
                    <a:pt x="28420" y="1828800"/>
                  </a:lnTo>
                  <a:cubicBezTo>
                    <a:pt x="12724" y="1828800"/>
                    <a:pt x="0" y="1816076"/>
                    <a:pt x="0" y="1800380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8"/>
            <p:cNvSpPr txBox="1"/>
            <p:nvPr/>
          </p:nvSpPr>
          <p:spPr>
            <a:xfrm>
              <a:off x="0" y="-28575"/>
              <a:ext cx="1434943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28"/>
          <p:cNvGrpSpPr/>
          <p:nvPr/>
        </p:nvGrpSpPr>
        <p:grpSpPr>
          <a:xfrm>
            <a:off x="6419850" y="2568029"/>
            <a:ext cx="11201400" cy="7052221"/>
            <a:chOff x="0" y="-28575"/>
            <a:chExt cx="2950163" cy="1857375"/>
          </a:xfrm>
        </p:grpSpPr>
        <p:sp>
          <p:nvSpPr>
            <p:cNvPr id="293" name="Google Shape;293;p28"/>
            <p:cNvSpPr/>
            <p:nvPr/>
          </p:nvSpPr>
          <p:spPr>
            <a:xfrm>
              <a:off x="0" y="0"/>
              <a:ext cx="2950163" cy="1828800"/>
            </a:xfrm>
            <a:custGeom>
              <a:rect b="b" l="l" r="r" t="t"/>
              <a:pathLst>
                <a:path extrusionOk="0" h="1828800" w="2950163">
                  <a:moveTo>
                    <a:pt x="13823" y="0"/>
                  </a:moveTo>
                  <a:lnTo>
                    <a:pt x="2936340" y="0"/>
                  </a:lnTo>
                  <a:cubicBezTo>
                    <a:pt x="2940006" y="0"/>
                    <a:pt x="2943522" y="1456"/>
                    <a:pt x="2946114" y="4049"/>
                  </a:cubicBezTo>
                  <a:cubicBezTo>
                    <a:pt x="2948707" y="6641"/>
                    <a:pt x="2950163" y="10157"/>
                    <a:pt x="2950163" y="13823"/>
                  </a:cubicBezTo>
                  <a:lnTo>
                    <a:pt x="2950163" y="1814977"/>
                  </a:lnTo>
                  <a:cubicBezTo>
                    <a:pt x="2950163" y="1818643"/>
                    <a:pt x="2948707" y="1822159"/>
                    <a:pt x="2946114" y="1824751"/>
                  </a:cubicBezTo>
                  <a:cubicBezTo>
                    <a:pt x="2943522" y="1827344"/>
                    <a:pt x="2940006" y="1828800"/>
                    <a:pt x="2936340" y="1828800"/>
                  </a:cubicBezTo>
                  <a:lnTo>
                    <a:pt x="13823" y="1828800"/>
                  </a:lnTo>
                  <a:cubicBezTo>
                    <a:pt x="10157" y="1828800"/>
                    <a:pt x="6641" y="1827344"/>
                    <a:pt x="4049" y="1824751"/>
                  </a:cubicBezTo>
                  <a:cubicBezTo>
                    <a:pt x="1456" y="1822159"/>
                    <a:pt x="0" y="1818643"/>
                    <a:pt x="0" y="1814977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8"/>
            <p:cNvSpPr txBox="1"/>
            <p:nvPr/>
          </p:nvSpPr>
          <p:spPr>
            <a:xfrm>
              <a:off x="0" y="-28575"/>
              <a:ext cx="2950163" cy="1857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28"/>
          <p:cNvGrpSpPr/>
          <p:nvPr/>
        </p:nvGrpSpPr>
        <p:grpSpPr>
          <a:xfrm>
            <a:off x="1161250" y="7894638"/>
            <a:ext cx="924725" cy="1257300"/>
            <a:chOff x="0" y="0"/>
            <a:chExt cx="1232966" cy="1676400"/>
          </a:xfrm>
        </p:grpSpPr>
        <p:grpSp>
          <p:nvGrpSpPr>
            <p:cNvPr id="296" name="Google Shape;296;p28"/>
            <p:cNvGrpSpPr/>
            <p:nvPr/>
          </p:nvGrpSpPr>
          <p:grpSpPr>
            <a:xfrm>
              <a:off x="0" y="0"/>
              <a:ext cx="1232966" cy="1232966"/>
              <a:chOff x="0" y="0"/>
              <a:chExt cx="812800" cy="812800"/>
            </a:xfrm>
          </p:grpSpPr>
          <p:sp>
            <p:nvSpPr>
              <p:cNvPr id="297" name="Google Shape;297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6EC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" name="Google Shape;299;p28"/>
            <p:cNvSpPr txBox="1"/>
            <p:nvPr/>
          </p:nvSpPr>
          <p:spPr>
            <a:xfrm>
              <a:off x="20129" y="1439114"/>
              <a:ext cx="1192708" cy="237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829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#E6ECEC</a:t>
              </a:r>
              <a:endParaRPr/>
            </a:p>
          </p:txBody>
        </p:sp>
      </p:grpSp>
      <p:grpSp>
        <p:nvGrpSpPr>
          <p:cNvPr id="300" name="Google Shape;300;p28"/>
          <p:cNvGrpSpPr/>
          <p:nvPr/>
        </p:nvGrpSpPr>
        <p:grpSpPr>
          <a:xfrm>
            <a:off x="2339442" y="7894638"/>
            <a:ext cx="924725" cy="1257300"/>
            <a:chOff x="0" y="0"/>
            <a:chExt cx="1232966" cy="1676400"/>
          </a:xfrm>
        </p:grpSpPr>
        <p:grpSp>
          <p:nvGrpSpPr>
            <p:cNvPr id="301" name="Google Shape;301;p28"/>
            <p:cNvGrpSpPr/>
            <p:nvPr/>
          </p:nvGrpSpPr>
          <p:grpSpPr>
            <a:xfrm>
              <a:off x="0" y="0"/>
              <a:ext cx="1232966" cy="1232966"/>
              <a:chOff x="0" y="0"/>
              <a:chExt cx="812800" cy="812800"/>
            </a:xfrm>
          </p:grpSpPr>
          <p:sp>
            <p:nvSpPr>
              <p:cNvPr id="302" name="Google Shape;302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CCC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28"/>
            <p:cNvSpPr txBox="1"/>
            <p:nvPr/>
          </p:nvSpPr>
          <p:spPr>
            <a:xfrm>
              <a:off x="20129" y="1439114"/>
              <a:ext cx="1192708" cy="237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829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#E6ECEC</a:t>
              </a:r>
              <a:endParaRPr/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517633" y="7894638"/>
            <a:ext cx="924725" cy="1257300"/>
            <a:chOff x="0" y="0"/>
            <a:chExt cx="1232966" cy="1676400"/>
          </a:xfrm>
        </p:grpSpPr>
        <p:grpSp>
          <p:nvGrpSpPr>
            <p:cNvPr id="306" name="Google Shape;306;p28"/>
            <p:cNvGrpSpPr/>
            <p:nvPr/>
          </p:nvGrpSpPr>
          <p:grpSpPr>
            <a:xfrm>
              <a:off x="0" y="0"/>
              <a:ext cx="1232966" cy="1232966"/>
              <a:chOff x="0" y="0"/>
              <a:chExt cx="812800" cy="812800"/>
            </a:xfrm>
          </p:grpSpPr>
          <p:sp>
            <p:nvSpPr>
              <p:cNvPr id="307" name="Google Shape;307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29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p28"/>
            <p:cNvSpPr txBox="1"/>
            <p:nvPr/>
          </p:nvSpPr>
          <p:spPr>
            <a:xfrm>
              <a:off x="20129" y="1439114"/>
              <a:ext cx="1192708" cy="237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0829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#E6ECEC</a:t>
              </a:r>
              <a:endParaRPr/>
            </a:p>
          </p:txBody>
        </p:sp>
      </p:grpSp>
      <p:grpSp>
        <p:nvGrpSpPr>
          <p:cNvPr id="310" name="Google Shape;310;p28"/>
          <p:cNvGrpSpPr/>
          <p:nvPr/>
        </p:nvGrpSpPr>
        <p:grpSpPr>
          <a:xfrm>
            <a:off x="4695825" y="7894638"/>
            <a:ext cx="924725" cy="924725"/>
            <a:chOff x="0" y="0"/>
            <a:chExt cx="812800" cy="812800"/>
          </a:xfrm>
        </p:grpSpPr>
        <p:sp>
          <p:nvSpPr>
            <p:cNvPr id="311" name="Google Shape;311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ACCCF2"/>
                </a:gs>
                <a:gs pos="100000">
                  <a:srgbClr val="F9F6E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28"/>
          <p:cNvSpPr/>
          <p:nvPr/>
        </p:nvSpPr>
        <p:spPr>
          <a:xfrm>
            <a:off x="7225755" y="6937269"/>
            <a:ext cx="2150574" cy="2150574"/>
          </a:xfrm>
          <a:custGeom>
            <a:rect b="b" l="l" r="r" t="t"/>
            <a:pathLst>
              <a:path extrusionOk="0" h="2150574" w="2150574">
                <a:moveTo>
                  <a:pt x="0" y="0"/>
                </a:moveTo>
                <a:lnTo>
                  <a:pt x="2150573" y="0"/>
                </a:lnTo>
                <a:lnTo>
                  <a:pt x="2150573" y="2150573"/>
                </a:lnTo>
                <a:lnTo>
                  <a:pt x="0" y="2150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28"/>
          <p:cNvSpPr/>
          <p:nvPr/>
        </p:nvSpPr>
        <p:spPr>
          <a:xfrm>
            <a:off x="7177732" y="4157654"/>
            <a:ext cx="2246618" cy="2222110"/>
          </a:xfrm>
          <a:custGeom>
            <a:rect b="b" l="l" r="r" t="t"/>
            <a:pathLst>
              <a:path extrusionOk="0" h="2222110" w="2246618">
                <a:moveTo>
                  <a:pt x="0" y="0"/>
                </a:moveTo>
                <a:lnTo>
                  <a:pt x="2246619" y="0"/>
                </a:lnTo>
                <a:lnTo>
                  <a:pt x="2246619" y="2222110"/>
                </a:lnTo>
                <a:lnTo>
                  <a:pt x="0" y="222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8"/>
          <p:cNvSpPr/>
          <p:nvPr/>
        </p:nvSpPr>
        <p:spPr>
          <a:xfrm>
            <a:off x="10063152" y="4350275"/>
            <a:ext cx="2049243" cy="1836867"/>
          </a:xfrm>
          <a:custGeom>
            <a:rect b="b" l="l" r="r" t="t"/>
            <a:pathLst>
              <a:path extrusionOk="0" h="1836867" w="2049243">
                <a:moveTo>
                  <a:pt x="0" y="0"/>
                </a:moveTo>
                <a:lnTo>
                  <a:pt x="2049243" y="0"/>
                </a:lnTo>
                <a:lnTo>
                  <a:pt x="2049243" y="1836867"/>
                </a:lnTo>
                <a:lnTo>
                  <a:pt x="0" y="1836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28"/>
          <p:cNvSpPr/>
          <p:nvPr/>
        </p:nvSpPr>
        <p:spPr>
          <a:xfrm>
            <a:off x="12605337" y="4618786"/>
            <a:ext cx="2115135" cy="1299846"/>
          </a:xfrm>
          <a:custGeom>
            <a:rect b="b" l="l" r="r" t="t"/>
            <a:pathLst>
              <a:path extrusionOk="0" h="1299846" w="2115135">
                <a:moveTo>
                  <a:pt x="0" y="0"/>
                </a:moveTo>
                <a:lnTo>
                  <a:pt x="2115134" y="0"/>
                </a:lnTo>
                <a:lnTo>
                  <a:pt x="2115134" y="1299846"/>
                </a:lnTo>
                <a:lnTo>
                  <a:pt x="0" y="1299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28"/>
          <p:cNvSpPr/>
          <p:nvPr/>
        </p:nvSpPr>
        <p:spPr>
          <a:xfrm>
            <a:off x="15505131" y="4059922"/>
            <a:ext cx="1358237" cy="2417573"/>
          </a:xfrm>
          <a:custGeom>
            <a:rect b="b" l="l" r="r" t="t"/>
            <a:pathLst>
              <a:path extrusionOk="0" h="2417573" w="1358237">
                <a:moveTo>
                  <a:pt x="0" y="0"/>
                </a:moveTo>
                <a:lnTo>
                  <a:pt x="1358237" y="0"/>
                </a:lnTo>
                <a:lnTo>
                  <a:pt x="1358237" y="2417573"/>
                </a:lnTo>
                <a:lnTo>
                  <a:pt x="0" y="2417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8"/>
          <p:cNvSpPr/>
          <p:nvPr/>
        </p:nvSpPr>
        <p:spPr>
          <a:xfrm>
            <a:off x="10297397" y="7116253"/>
            <a:ext cx="1580751" cy="1792605"/>
          </a:xfrm>
          <a:custGeom>
            <a:rect b="b" l="l" r="r" t="t"/>
            <a:pathLst>
              <a:path extrusionOk="0" h="1792605" w="1580751">
                <a:moveTo>
                  <a:pt x="0" y="0"/>
                </a:moveTo>
                <a:lnTo>
                  <a:pt x="1580752" y="0"/>
                </a:lnTo>
                <a:lnTo>
                  <a:pt x="1580752" y="1792605"/>
                </a:lnTo>
                <a:lnTo>
                  <a:pt x="0" y="1792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8"/>
          <p:cNvSpPr/>
          <p:nvPr/>
        </p:nvSpPr>
        <p:spPr>
          <a:xfrm>
            <a:off x="12553595" y="7389326"/>
            <a:ext cx="2218617" cy="1246460"/>
          </a:xfrm>
          <a:custGeom>
            <a:rect b="b" l="l" r="r" t="t"/>
            <a:pathLst>
              <a:path extrusionOk="0" h="1246460" w="2218617">
                <a:moveTo>
                  <a:pt x="0" y="0"/>
                </a:moveTo>
                <a:lnTo>
                  <a:pt x="2218618" y="0"/>
                </a:lnTo>
                <a:lnTo>
                  <a:pt x="2218618" y="1246459"/>
                </a:lnTo>
                <a:lnTo>
                  <a:pt x="0" y="1246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28"/>
          <p:cNvSpPr/>
          <p:nvPr/>
        </p:nvSpPr>
        <p:spPr>
          <a:xfrm>
            <a:off x="15213414" y="7041719"/>
            <a:ext cx="1941672" cy="1941672"/>
          </a:xfrm>
          <a:custGeom>
            <a:rect b="b" l="l" r="r" t="t"/>
            <a:pathLst>
              <a:path extrusionOk="0" h="1941672" w="1941672">
                <a:moveTo>
                  <a:pt x="0" y="0"/>
                </a:moveTo>
                <a:lnTo>
                  <a:pt x="1941671" y="0"/>
                </a:lnTo>
                <a:lnTo>
                  <a:pt x="1941671" y="1941672"/>
                </a:lnTo>
                <a:lnTo>
                  <a:pt x="0" y="194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28"/>
          <p:cNvSpPr txBox="1"/>
          <p:nvPr/>
        </p:nvSpPr>
        <p:spPr>
          <a:xfrm>
            <a:off x="1517842" y="3859114"/>
            <a:ext cx="3746117" cy="49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This presentation template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uses the following free fonts: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1517842" y="5916594"/>
            <a:ext cx="3746117" cy="24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can find these fonts online too.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3800933" y="1824038"/>
            <a:ext cx="10686133" cy="30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Use these in your presentation. Delete or hide this page before presenting. 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5469973" y="666433"/>
            <a:ext cx="734805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Resource Page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8813917" y="3218458"/>
            <a:ext cx="6370241" cy="438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 Elements / Icons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1517842" y="3218458"/>
            <a:ext cx="3746117" cy="438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Fonts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2105025" y="7172306"/>
            <a:ext cx="2571750" cy="438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8291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Colors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1419244" y="4693997"/>
            <a:ext cx="3943311" cy="83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89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Montserrat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CE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29"/>
          <p:cNvGrpSpPr/>
          <p:nvPr/>
        </p:nvGrpSpPr>
        <p:grpSpPr>
          <a:xfrm>
            <a:off x="666750" y="558254"/>
            <a:ext cx="16954500" cy="9062000"/>
            <a:chOff x="0" y="-28575"/>
            <a:chExt cx="4465383" cy="2386699"/>
          </a:xfrm>
        </p:grpSpPr>
        <p:sp>
          <p:nvSpPr>
            <p:cNvPr id="334" name="Google Shape;334;p29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2348991"/>
                  </a:lnTo>
                  <a:cubicBezTo>
                    <a:pt x="4465383" y="2351413"/>
                    <a:pt x="4464421" y="2353736"/>
                    <a:pt x="4462708" y="2355449"/>
                  </a:cubicBezTo>
                  <a:cubicBezTo>
                    <a:pt x="4460995" y="2357161"/>
                    <a:pt x="4458672" y="2358124"/>
                    <a:pt x="4456250" y="2358124"/>
                  </a:cubicBezTo>
                  <a:lnTo>
                    <a:pt x="9133" y="2358124"/>
                  </a:lnTo>
                  <a:cubicBezTo>
                    <a:pt x="6710" y="2358124"/>
                    <a:pt x="4388" y="2357161"/>
                    <a:pt x="2675" y="2355449"/>
                  </a:cubicBezTo>
                  <a:cubicBezTo>
                    <a:pt x="962" y="2353736"/>
                    <a:pt x="0" y="2351413"/>
                    <a:pt x="0" y="2348991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9"/>
            <p:cNvSpPr txBox="1"/>
            <p:nvPr/>
          </p:nvSpPr>
          <p:spPr>
            <a:xfrm>
              <a:off x="0" y="-28575"/>
              <a:ext cx="4465383" cy="2386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29"/>
          <p:cNvSpPr txBox="1"/>
          <p:nvPr/>
        </p:nvSpPr>
        <p:spPr>
          <a:xfrm>
            <a:off x="3377480" y="2492340"/>
            <a:ext cx="11533039" cy="30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This presentation template is free for everyone to use, thanks to the following: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3377480" y="5269821"/>
            <a:ext cx="11533039" cy="30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for this presentation template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3377480" y="7327188"/>
            <a:ext cx="11533039" cy="304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for the photos, graphics, and elements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5678956" y="8489231"/>
            <a:ext cx="6930088" cy="44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Happy designing!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3377480" y="1434455"/>
            <a:ext cx="11533039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385F88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5004582" y="6517589"/>
            <a:ext cx="827883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8291A"/>
                </a:solidFill>
                <a:latin typeface="Montserrat"/>
                <a:ea typeface="Montserrat"/>
                <a:cs typeface="Montserrat"/>
                <a:sym typeface="Montserrat"/>
              </a:rPr>
              <a:t>Pexels, Pixabay, Sketchify</a:t>
            </a:r>
            <a:endParaRPr/>
          </a:p>
        </p:txBody>
      </p:sp>
      <p:pic>
        <p:nvPicPr>
          <p:cNvPr id="342" name="Google Shape;3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663" y="3616275"/>
            <a:ext cx="5100676" cy="12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