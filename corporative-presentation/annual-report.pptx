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Frank Ruhl Libre Medium"/>
      <p:regular r:id="rId19"/>
      <p:bold r:id="rId20"/>
    </p:embeddedFont>
    <p:embeddedFont>
      <p:font typeface="Arimo"/>
      <p:regular r:id="rId21"/>
      <p:bold r:id="rId22"/>
      <p:italic r:id="rId23"/>
      <p:boldItalic r:id="rId24"/>
    </p:embeddedFont>
    <p:embeddedFont>
      <p:font typeface="Frank Ruhl Libre"/>
      <p:regular r:id="rId25"/>
      <p:bold r:id="rId26"/>
    </p:embeddedFont>
    <p:embeddedFont>
      <p:font typeface="Be Vietnam Pro"/>
      <p:regular r:id="rId27"/>
      <p:bold r:id="rId28"/>
      <p:italic r:id="rId29"/>
      <p:boldItalic r:id="rId30"/>
    </p:embeddedFont>
    <p:embeddedFont>
      <p:font typeface="Be Vietnam Pro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B7D907-0049-4A28-909F-3A5B010B388B}">
  <a:tblStyle styleId="{E6B7D907-0049-4A28-909F-3A5B010B38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rankRuhlLibreMedium-bold.fntdata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rankRuhlLibre-bold.fntdata"/><Relationship Id="rId25" Type="http://schemas.openxmlformats.org/officeDocument/2006/relationships/font" Target="fonts/FrankRuhlLibre-regular.fntdata"/><Relationship Id="rId28" Type="http://schemas.openxmlformats.org/officeDocument/2006/relationships/font" Target="fonts/BeVietnamPro-bold.fntdata"/><Relationship Id="rId27" Type="http://schemas.openxmlformats.org/officeDocument/2006/relationships/font" Target="fonts/BeVietnamPr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BeVietnamPr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eVietnamProMedium-regular.fntdata"/><Relationship Id="rId30" Type="http://schemas.openxmlformats.org/officeDocument/2006/relationships/font" Target="fonts/BeVietnamPro-boldItalic.fntdata"/><Relationship Id="rId11" Type="http://schemas.openxmlformats.org/officeDocument/2006/relationships/slide" Target="slides/slide5.xml"/><Relationship Id="rId33" Type="http://schemas.openxmlformats.org/officeDocument/2006/relationships/font" Target="fonts/BeVietnamProMedium-italic.fntdata"/><Relationship Id="rId10" Type="http://schemas.openxmlformats.org/officeDocument/2006/relationships/slide" Target="slides/slide4.xml"/><Relationship Id="rId32" Type="http://schemas.openxmlformats.org/officeDocument/2006/relationships/font" Target="fonts/BeVietnamPro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BeVietnamPro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FrankRuhlLibre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5.xml"/><Relationship Id="rId5" Type="http://schemas.openxmlformats.org/officeDocument/2006/relationships/slide" Target="/ppt/slides/slide8.xml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3.png"/><Relationship Id="rId5" Type="http://schemas.openxmlformats.org/officeDocument/2006/relationships/image" Target="../media/image50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52.png"/><Relationship Id="rId7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40" Type="http://schemas.openxmlformats.org/officeDocument/2006/relationships/image" Target="../media/image53.png"/><Relationship Id="rId20" Type="http://schemas.openxmlformats.org/officeDocument/2006/relationships/image" Target="../media/image27.png"/><Relationship Id="rId41" Type="http://schemas.openxmlformats.org/officeDocument/2006/relationships/image" Target="../media/image49.png"/><Relationship Id="rId22" Type="http://schemas.openxmlformats.org/officeDocument/2006/relationships/image" Target="../media/image29.png"/><Relationship Id="rId21" Type="http://schemas.openxmlformats.org/officeDocument/2006/relationships/image" Target="../media/image41.png"/><Relationship Id="rId24" Type="http://schemas.openxmlformats.org/officeDocument/2006/relationships/image" Target="../media/image36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7.png"/><Relationship Id="rId26" Type="http://schemas.openxmlformats.org/officeDocument/2006/relationships/image" Target="../media/image47.png"/><Relationship Id="rId25" Type="http://schemas.openxmlformats.org/officeDocument/2006/relationships/image" Target="../media/image31.png"/><Relationship Id="rId28" Type="http://schemas.openxmlformats.org/officeDocument/2006/relationships/image" Target="../media/image35.png"/><Relationship Id="rId27" Type="http://schemas.openxmlformats.org/officeDocument/2006/relationships/image" Target="../media/image3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29" Type="http://schemas.openxmlformats.org/officeDocument/2006/relationships/image" Target="../media/image42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31" Type="http://schemas.openxmlformats.org/officeDocument/2006/relationships/image" Target="../media/image57.png"/><Relationship Id="rId30" Type="http://schemas.openxmlformats.org/officeDocument/2006/relationships/image" Target="../media/image37.png"/><Relationship Id="rId11" Type="http://schemas.openxmlformats.org/officeDocument/2006/relationships/image" Target="../media/image20.png"/><Relationship Id="rId33" Type="http://schemas.openxmlformats.org/officeDocument/2006/relationships/image" Target="../media/image54.png"/><Relationship Id="rId10" Type="http://schemas.openxmlformats.org/officeDocument/2006/relationships/image" Target="../media/image24.png"/><Relationship Id="rId32" Type="http://schemas.openxmlformats.org/officeDocument/2006/relationships/image" Target="../media/image45.png"/><Relationship Id="rId13" Type="http://schemas.openxmlformats.org/officeDocument/2006/relationships/image" Target="../media/image18.png"/><Relationship Id="rId35" Type="http://schemas.openxmlformats.org/officeDocument/2006/relationships/image" Target="../media/image44.png"/><Relationship Id="rId12" Type="http://schemas.openxmlformats.org/officeDocument/2006/relationships/image" Target="../media/image19.png"/><Relationship Id="rId34" Type="http://schemas.openxmlformats.org/officeDocument/2006/relationships/image" Target="../media/image39.png"/><Relationship Id="rId15" Type="http://schemas.openxmlformats.org/officeDocument/2006/relationships/image" Target="../media/image23.png"/><Relationship Id="rId37" Type="http://schemas.openxmlformats.org/officeDocument/2006/relationships/image" Target="../media/image46.png"/><Relationship Id="rId14" Type="http://schemas.openxmlformats.org/officeDocument/2006/relationships/image" Target="../media/image21.png"/><Relationship Id="rId36" Type="http://schemas.openxmlformats.org/officeDocument/2006/relationships/image" Target="../media/image43.png"/><Relationship Id="rId17" Type="http://schemas.openxmlformats.org/officeDocument/2006/relationships/image" Target="../media/image40.png"/><Relationship Id="rId39" Type="http://schemas.openxmlformats.org/officeDocument/2006/relationships/image" Target="../media/image48.png"/><Relationship Id="rId16" Type="http://schemas.openxmlformats.org/officeDocument/2006/relationships/image" Target="../media/image22.png"/><Relationship Id="rId38" Type="http://schemas.openxmlformats.org/officeDocument/2006/relationships/image" Target="../media/image51.png"/><Relationship Id="rId19" Type="http://schemas.openxmlformats.org/officeDocument/2006/relationships/image" Target="../media/image32.png"/><Relationship Id="rId1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0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484225" y="9237642"/>
            <a:ext cx="3858237" cy="416661"/>
            <a:chOff x="0" y="503567"/>
            <a:chExt cx="3912622" cy="555548"/>
          </a:xfrm>
        </p:grpSpPr>
        <p:sp>
          <p:nvSpPr>
            <p:cNvPr id="85" name="Google Shape;85;p13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6" name="Google Shape;86;p13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 u="none" cap="none" strike="noStrike">
                  <a:solidFill>
                    <a:srgbClr val="0F1A38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>
            <a:off x="0" y="9948304"/>
            <a:ext cx="18288122" cy="338691"/>
            <a:chOff x="0" y="-28575"/>
            <a:chExt cx="4816593" cy="202252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4816593" cy="202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-1" y="-958725"/>
            <a:ext cx="11964900" cy="57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0" u="none" cap="none" strike="noStrike">
                <a:solidFill>
                  <a:srgbClr val="BADF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r>
              <a:rPr b="1" i="0" lang="en-US" sz="40000" u="none" cap="none" strike="noStrike">
                <a:solidFill>
                  <a:srgbClr val="BADFFF"/>
                </a:solidFill>
                <a:latin typeface="Arimo"/>
                <a:ea typeface="Arimo"/>
                <a:cs typeface="Arimo"/>
                <a:sym typeface="Arimo"/>
              </a:rPr>
              <a:t>035</a:t>
            </a:r>
            <a:endParaRPr sz="40000">
              <a:solidFill>
                <a:srgbClr val="BAD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415798" y="3190275"/>
            <a:ext cx="10221300" cy="29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51" u="none" cap="none" strike="noStrike">
                <a:solidFill>
                  <a:srgbClr val="0F1A38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Annual</a:t>
            </a:r>
            <a:endParaRPr sz="100"/>
          </a:p>
        </p:txBody>
      </p:sp>
      <p:sp>
        <p:nvSpPr>
          <p:cNvPr id="92" name="Google Shape;92;p13"/>
          <p:cNvSpPr txBox="1"/>
          <p:nvPr/>
        </p:nvSpPr>
        <p:spPr>
          <a:xfrm>
            <a:off x="14080976" y="1125625"/>
            <a:ext cx="33981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24" u="none" cap="none" strike="noStrike">
                <a:solidFill>
                  <a:srgbClr val="0F1A38"/>
                </a:solidFill>
                <a:latin typeface="Be Vietnam Pro Medium"/>
                <a:ea typeface="Be Vietnam Pro Medium"/>
                <a:cs typeface="Be Vietnam Pro Medium"/>
                <a:sym typeface="Be Vietnam Pro Medium"/>
              </a:rPr>
              <a:t>A year of growth, new opportunities, and resilience</a:t>
            </a:r>
            <a:endParaRPr sz="1300">
              <a:latin typeface="Be Vietnam Pro Medium"/>
              <a:ea typeface="Be Vietnam Pro Medium"/>
              <a:cs typeface="Be Vietnam Pro Medium"/>
              <a:sym typeface="Be Vietnam Pro Medium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706717" y="9276617"/>
            <a:ext cx="555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Presented by: Fernandino Ortiz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964377" y="5493700"/>
            <a:ext cx="9872700" cy="29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51" u="none" cap="none" strike="noStrike">
                <a:solidFill>
                  <a:srgbClr val="0F1A38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Report</a:t>
            </a:r>
            <a:endParaRPr sz="100"/>
          </a:p>
        </p:txBody>
      </p:sp>
      <p:pic>
        <p:nvPicPr>
          <p:cNvPr id="95" name="Google Shape;9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200" y="6040975"/>
            <a:ext cx="7305299" cy="179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43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1028700" y="4125746"/>
            <a:ext cx="5776881" cy="1506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7D39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Agenda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72053" y="2057963"/>
            <a:ext cx="7587247" cy="85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65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Executive summary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72053" y="4289700"/>
            <a:ext cx="7587247" cy="85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65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Financial performance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72053" y="6516957"/>
            <a:ext cx="7587247" cy="859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65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Looking ahead</a:t>
            </a:r>
            <a:endParaRPr/>
          </a:p>
        </p:txBody>
      </p:sp>
      <p:grpSp>
        <p:nvGrpSpPr>
          <p:cNvPr id="104" name="Google Shape;104;p14"/>
          <p:cNvGrpSpPr/>
          <p:nvPr/>
        </p:nvGrpSpPr>
        <p:grpSpPr>
          <a:xfrm>
            <a:off x="484225" y="9315617"/>
            <a:ext cx="3136358" cy="338718"/>
            <a:chOff x="0" y="503567"/>
            <a:chExt cx="3912622" cy="555548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951" u="none" cap="none" strike="noStrike">
                  <a:solidFill>
                    <a:schemeClr val="lt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 sz="1138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07" name="Google Shape;107;p14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108" name="Google Shape;108;p14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9" name="Google Shape;109;p14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>
            <a:off x="1028700" y="801959"/>
            <a:ext cx="7570824" cy="2219499"/>
            <a:chOff x="0" y="-28575"/>
            <a:chExt cx="1993962" cy="584559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0"/>
              <a:ext cx="1993962" cy="555984"/>
            </a:xfrm>
            <a:custGeom>
              <a:rect b="b" l="l" r="r" t="t"/>
              <a:pathLst>
                <a:path extrusionOk="0" h="555984" w="1993962">
                  <a:moveTo>
                    <a:pt x="42949" y="0"/>
                  </a:moveTo>
                  <a:lnTo>
                    <a:pt x="1951013" y="0"/>
                  </a:lnTo>
                  <a:cubicBezTo>
                    <a:pt x="1974733" y="0"/>
                    <a:pt x="1993962" y="19229"/>
                    <a:pt x="1993962" y="42949"/>
                  </a:cubicBezTo>
                  <a:lnTo>
                    <a:pt x="1993962" y="513035"/>
                  </a:lnTo>
                  <a:cubicBezTo>
                    <a:pt x="1993962" y="536755"/>
                    <a:pt x="1974733" y="555984"/>
                    <a:pt x="1951013" y="555984"/>
                  </a:cubicBezTo>
                  <a:lnTo>
                    <a:pt x="42949" y="555984"/>
                  </a:lnTo>
                  <a:cubicBezTo>
                    <a:pt x="19229" y="555984"/>
                    <a:pt x="0" y="536755"/>
                    <a:pt x="0" y="513035"/>
                  </a:cubicBezTo>
                  <a:lnTo>
                    <a:pt x="0" y="42949"/>
                  </a:lnTo>
                  <a:cubicBezTo>
                    <a:pt x="0" y="19229"/>
                    <a:pt x="19229" y="0"/>
                    <a:pt x="42949" y="0"/>
                  </a:cubicBez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0" y="-28575"/>
              <a:ext cx="1993962" cy="5845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>
            <a:off x="9399624" y="910455"/>
            <a:ext cx="7998384" cy="4894736"/>
          </a:xfrm>
          <a:custGeom>
            <a:rect b="b" l="l" r="r" t="t"/>
            <a:pathLst>
              <a:path extrusionOk="0" h="758323" w="1239159">
                <a:moveTo>
                  <a:pt x="45493" y="0"/>
                </a:moveTo>
                <a:lnTo>
                  <a:pt x="1193666" y="0"/>
                </a:lnTo>
                <a:cubicBezTo>
                  <a:pt x="1205732" y="0"/>
                  <a:pt x="1217303" y="4793"/>
                  <a:pt x="1225834" y="13325"/>
                </a:cubicBezTo>
                <a:cubicBezTo>
                  <a:pt x="1234366" y="21856"/>
                  <a:pt x="1239159" y="33427"/>
                  <a:pt x="1239159" y="45493"/>
                </a:cubicBezTo>
                <a:lnTo>
                  <a:pt x="1239159" y="712830"/>
                </a:lnTo>
                <a:cubicBezTo>
                  <a:pt x="1239159" y="737955"/>
                  <a:pt x="1218791" y="758323"/>
                  <a:pt x="1193666" y="758323"/>
                </a:cubicBezTo>
                <a:lnTo>
                  <a:pt x="45493" y="758323"/>
                </a:lnTo>
                <a:cubicBezTo>
                  <a:pt x="33427" y="758323"/>
                  <a:pt x="21856" y="753530"/>
                  <a:pt x="13325" y="744998"/>
                </a:cubicBezTo>
                <a:cubicBezTo>
                  <a:pt x="4793" y="736466"/>
                  <a:pt x="0" y="724895"/>
                  <a:pt x="0" y="712830"/>
                </a:cubicBezTo>
                <a:lnTo>
                  <a:pt x="0" y="45493"/>
                </a:lnTo>
                <a:cubicBezTo>
                  <a:pt x="0" y="33427"/>
                  <a:pt x="4793" y="21856"/>
                  <a:pt x="13325" y="13325"/>
                </a:cubicBezTo>
                <a:cubicBezTo>
                  <a:pt x="21856" y="4793"/>
                  <a:pt x="33427" y="0"/>
                  <a:pt x="4549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461" r="-446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1028700" y="5585218"/>
            <a:ext cx="456938" cy="456938"/>
          </a:xfrm>
          <a:custGeom>
            <a:rect b="b" l="l" r="r" t="t"/>
            <a:pathLst>
              <a:path extrusionOk="0" h="456938" w="456938">
                <a:moveTo>
                  <a:pt x="0" y="0"/>
                </a:moveTo>
                <a:lnTo>
                  <a:pt x="456938" y="0"/>
                </a:lnTo>
                <a:lnTo>
                  <a:pt x="456938" y="456938"/>
                </a:lnTo>
                <a:lnTo>
                  <a:pt x="0" y="456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15"/>
          <p:cNvSpPr/>
          <p:nvPr/>
        </p:nvSpPr>
        <p:spPr>
          <a:xfrm>
            <a:off x="1028700" y="6996583"/>
            <a:ext cx="456938" cy="456938"/>
          </a:xfrm>
          <a:custGeom>
            <a:rect b="b" l="l" r="r" t="t"/>
            <a:pathLst>
              <a:path extrusionOk="0" h="456938" w="456938">
                <a:moveTo>
                  <a:pt x="0" y="0"/>
                </a:moveTo>
                <a:lnTo>
                  <a:pt x="456938" y="0"/>
                </a:lnTo>
                <a:lnTo>
                  <a:pt x="456938" y="456938"/>
                </a:lnTo>
                <a:lnTo>
                  <a:pt x="0" y="456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5"/>
          <p:cNvSpPr/>
          <p:nvPr/>
        </p:nvSpPr>
        <p:spPr>
          <a:xfrm>
            <a:off x="1028700" y="6290892"/>
            <a:ext cx="456938" cy="456938"/>
          </a:xfrm>
          <a:custGeom>
            <a:rect b="b" l="l" r="r" t="t"/>
            <a:pathLst>
              <a:path extrusionOk="0" h="456938" w="456938">
                <a:moveTo>
                  <a:pt x="0" y="0"/>
                </a:moveTo>
                <a:lnTo>
                  <a:pt x="456938" y="0"/>
                </a:lnTo>
                <a:lnTo>
                  <a:pt x="456938" y="456938"/>
                </a:lnTo>
                <a:lnTo>
                  <a:pt x="0" y="456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5"/>
          <p:cNvSpPr/>
          <p:nvPr/>
        </p:nvSpPr>
        <p:spPr>
          <a:xfrm>
            <a:off x="1028700" y="7564769"/>
            <a:ext cx="456938" cy="456938"/>
          </a:xfrm>
          <a:custGeom>
            <a:rect b="b" l="l" r="r" t="t"/>
            <a:pathLst>
              <a:path extrusionOk="0" h="456938" w="456938">
                <a:moveTo>
                  <a:pt x="0" y="0"/>
                </a:moveTo>
                <a:lnTo>
                  <a:pt x="456938" y="0"/>
                </a:lnTo>
                <a:lnTo>
                  <a:pt x="456938" y="456938"/>
                </a:lnTo>
                <a:lnTo>
                  <a:pt x="0" y="456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1659451" y="1375406"/>
            <a:ext cx="1050105" cy="1181100"/>
          </a:xfrm>
          <a:custGeom>
            <a:rect b="b" l="l" r="r" t="t"/>
            <a:pathLst>
              <a:path extrusionOk="0" h="1181100" w="1050105">
                <a:moveTo>
                  <a:pt x="0" y="0"/>
                </a:moveTo>
                <a:lnTo>
                  <a:pt x="1050105" y="0"/>
                </a:lnTo>
                <a:lnTo>
                  <a:pt x="1050105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5"/>
          <p:cNvSpPr txBox="1"/>
          <p:nvPr/>
        </p:nvSpPr>
        <p:spPr>
          <a:xfrm>
            <a:off x="10590573" y="6643400"/>
            <a:ext cx="7032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0F1A38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Executive </a:t>
            </a:r>
            <a:r>
              <a:rPr b="0" i="0" lang="en-US" sz="12000" u="none" cap="none" strike="noStrike">
                <a:solidFill>
                  <a:srgbClr val="7D39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summary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293444" y="1204093"/>
            <a:ext cx="44586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2035 marked a year of steady progress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for Metro Markets 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028700" y="3376591"/>
            <a:ext cx="7570824" cy="1125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Through a focus on customer service, operational efficiency, and community engagement, the business strengthened its position while adapting to changing market conditions.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28700" y="4966692"/>
            <a:ext cx="1536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F1A3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Highlights: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797209" y="5634892"/>
            <a:ext cx="80178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increased year over year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selection expanded across key categories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 management became more efficient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Community partnerships continued to grow</a:t>
            </a:r>
            <a:endParaRPr/>
          </a:p>
        </p:txBody>
      </p:sp>
      <p:grpSp>
        <p:nvGrpSpPr>
          <p:cNvPr id="128" name="Google Shape;128;p15"/>
          <p:cNvGrpSpPr/>
          <p:nvPr/>
        </p:nvGrpSpPr>
        <p:grpSpPr>
          <a:xfrm>
            <a:off x="484225" y="9315617"/>
            <a:ext cx="3136358" cy="338718"/>
            <a:chOff x="0" y="503567"/>
            <a:chExt cx="3912622" cy="555548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0" name="Google Shape;130;p15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951" u="none" cap="none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 sz="1138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31" name="Google Shape;131;p15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132" name="Google Shape;132;p15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33" name="Google Shape;133;p15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 txBox="1"/>
          <p:nvPr/>
        </p:nvSpPr>
        <p:spPr>
          <a:xfrm>
            <a:off x="1028700" y="977575"/>
            <a:ext cx="7830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0F1A38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What made this year </a:t>
            </a:r>
            <a:r>
              <a:rPr b="0" i="0" lang="en-US" sz="9000" u="none" cap="none" strike="noStrike">
                <a:solidFill>
                  <a:srgbClr val="7D39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successful</a:t>
            </a:r>
            <a:endParaRPr sz="100"/>
          </a:p>
        </p:txBody>
      </p:sp>
      <p:grpSp>
        <p:nvGrpSpPr>
          <p:cNvPr id="139" name="Google Shape;139;p16"/>
          <p:cNvGrpSpPr/>
          <p:nvPr/>
        </p:nvGrpSpPr>
        <p:grpSpPr>
          <a:xfrm>
            <a:off x="1028700" y="4269514"/>
            <a:ext cx="3906644" cy="3953276"/>
            <a:chOff x="0" y="-28575"/>
            <a:chExt cx="1028910" cy="1041192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1028910" cy="1012617"/>
            </a:xfrm>
            <a:custGeom>
              <a:rect b="b" l="l" r="r" t="t"/>
              <a:pathLst>
                <a:path extrusionOk="0" h="1012617" w="1028910">
                  <a:moveTo>
                    <a:pt x="83233" y="0"/>
                  </a:moveTo>
                  <a:lnTo>
                    <a:pt x="945678" y="0"/>
                  </a:lnTo>
                  <a:cubicBezTo>
                    <a:pt x="967752" y="0"/>
                    <a:pt x="988923" y="8769"/>
                    <a:pt x="1004532" y="24378"/>
                  </a:cubicBezTo>
                  <a:cubicBezTo>
                    <a:pt x="1020141" y="39987"/>
                    <a:pt x="1028910" y="61158"/>
                    <a:pt x="1028910" y="83233"/>
                  </a:cubicBezTo>
                  <a:lnTo>
                    <a:pt x="1028910" y="929384"/>
                  </a:lnTo>
                  <a:cubicBezTo>
                    <a:pt x="1028910" y="951459"/>
                    <a:pt x="1020141" y="972630"/>
                    <a:pt x="1004532" y="988239"/>
                  </a:cubicBezTo>
                  <a:cubicBezTo>
                    <a:pt x="988923" y="1003848"/>
                    <a:pt x="967752" y="1012617"/>
                    <a:pt x="945678" y="1012617"/>
                  </a:cubicBezTo>
                  <a:lnTo>
                    <a:pt x="83233" y="1012617"/>
                  </a:lnTo>
                  <a:cubicBezTo>
                    <a:pt x="61158" y="1012617"/>
                    <a:pt x="39987" y="1003848"/>
                    <a:pt x="24378" y="988239"/>
                  </a:cubicBezTo>
                  <a:cubicBezTo>
                    <a:pt x="8769" y="972630"/>
                    <a:pt x="0" y="951459"/>
                    <a:pt x="0" y="929384"/>
                  </a:cubicBezTo>
                  <a:lnTo>
                    <a:pt x="0" y="83233"/>
                  </a:lnTo>
                  <a:cubicBezTo>
                    <a:pt x="0" y="61158"/>
                    <a:pt x="8769" y="39987"/>
                    <a:pt x="24378" y="24378"/>
                  </a:cubicBezTo>
                  <a:cubicBezTo>
                    <a:pt x="39987" y="8769"/>
                    <a:pt x="61158" y="0"/>
                    <a:pt x="83233" y="0"/>
                  </a:cubicBez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0" y="-28575"/>
              <a:ext cx="1028910" cy="104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6"/>
          <p:cNvGrpSpPr/>
          <p:nvPr/>
        </p:nvGrpSpPr>
        <p:grpSpPr>
          <a:xfrm>
            <a:off x="9245897" y="4269514"/>
            <a:ext cx="3906644" cy="3953276"/>
            <a:chOff x="0" y="-28575"/>
            <a:chExt cx="1028910" cy="1041192"/>
          </a:xfrm>
        </p:grpSpPr>
        <p:sp>
          <p:nvSpPr>
            <p:cNvPr id="143" name="Google Shape;143;p16"/>
            <p:cNvSpPr/>
            <p:nvPr/>
          </p:nvSpPr>
          <p:spPr>
            <a:xfrm>
              <a:off x="0" y="0"/>
              <a:ext cx="1028910" cy="1012617"/>
            </a:xfrm>
            <a:custGeom>
              <a:rect b="b" l="l" r="r" t="t"/>
              <a:pathLst>
                <a:path extrusionOk="0" h="1012617" w="1028910">
                  <a:moveTo>
                    <a:pt x="83233" y="0"/>
                  </a:moveTo>
                  <a:lnTo>
                    <a:pt x="945678" y="0"/>
                  </a:lnTo>
                  <a:cubicBezTo>
                    <a:pt x="967752" y="0"/>
                    <a:pt x="988923" y="8769"/>
                    <a:pt x="1004532" y="24378"/>
                  </a:cubicBezTo>
                  <a:cubicBezTo>
                    <a:pt x="1020141" y="39987"/>
                    <a:pt x="1028910" y="61158"/>
                    <a:pt x="1028910" y="83233"/>
                  </a:cubicBezTo>
                  <a:lnTo>
                    <a:pt x="1028910" y="929384"/>
                  </a:lnTo>
                  <a:cubicBezTo>
                    <a:pt x="1028910" y="951459"/>
                    <a:pt x="1020141" y="972630"/>
                    <a:pt x="1004532" y="988239"/>
                  </a:cubicBezTo>
                  <a:cubicBezTo>
                    <a:pt x="988923" y="1003848"/>
                    <a:pt x="967752" y="1012617"/>
                    <a:pt x="945678" y="1012617"/>
                  </a:cubicBezTo>
                  <a:lnTo>
                    <a:pt x="83233" y="1012617"/>
                  </a:lnTo>
                  <a:cubicBezTo>
                    <a:pt x="61158" y="1012617"/>
                    <a:pt x="39987" y="1003848"/>
                    <a:pt x="24378" y="988239"/>
                  </a:cubicBezTo>
                  <a:cubicBezTo>
                    <a:pt x="8769" y="972630"/>
                    <a:pt x="0" y="951459"/>
                    <a:pt x="0" y="929384"/>
                  </a:cubicBezTo>
                  <a:lnTo>
                    <a:pt x="0" y="83233"/>
                  </a:lnTo>
                  <a:cubicBezTo>
                    <a:pt x="0" y="61158"/>
                    <a:pt x="8769" y="39987"/>
                    <a:pt x="24378" y="24378"/>
                  </a:cubicBezTo>
                  <a:cubicBezTo>
                    <a:pt x="39987" y="8769"/>
                    <a:pt x="61158" y="0"/>
                    <a:pt x="83233" y="0"/>
                  </a:cubicBez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0" y="-28575"/>
              <a:ext cx="1028910" cy="104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6"/>
          <p:cNvGrpSpPr/>
          <p:nvPr/>
        </p:nvGrpSpPr>
        <p:grpSpPr>
          <a:xfrm>
            <a:off x="5135459" y="4269514"/>
            <a:ext cx="3906644" cy="3953276"/>
            <a:chOff x="0" y="-28575"/>
            <a:chExt cx="1028910" cy="1041192"/>
          </a:xfrm>
        </p:grpSpPr>
        <p:sp>
          <p:nvSpPr>
            <p:cNvPr id="146" name="Google Shape;146;p16"/>
            <p:cNvSpPr/>
            <p:nvPr/>
          </p:nvSpPr>
          <p:spPr>
            <a:xfrm>
              <a:off x="0" y="0"/>
              <a:ext cx="1028910" cy="1012617"/>
            </a:xfrm>
            <a:custGeom>
              <a:rect b="b" l="l" r="r" t="t"/>
              <a:pathLst>
                <a:path extrusionOk="0" h="1012617" w="1028910">
                  <a:moveTo>
                    <a:pt x="83233" y="0"/>
                  </a:moveTo>
                  <a:lnTo>
                    <a:pt x="945678" y="0"/>
                  </a:lnTo>
                  <a:cubicBezTo>
                    <a:pt x="967752" y="0"/>
                    <a:pt x="988923" y="8769"/>
                    <a:pt x="1004532" y="24378"/>
                  </a:cubicBezTo>
                  <a:cubicBezTo>
                    <a:pt x="1020141" y="39987"/>
                    <a:pt x="1028910" y="61158"/>
                    <a:pt x="1028910" y="83233"/>
                  </a:cubicBezTo>
                  <a:lnTo>
                    <a:pt x="1028910" y="929384"/>
                  </a:lnTo>
                  <a:cubicBezTo>
                    <a:pt x="1028910" y="951459"/>
                    <a:pt x="1020141" y="972630"/>
                    <a:pt x="1004532" y="988239"/>
                  </a:cubicBezTo>
                  <a:cubicBezTo>
                    <a:pt x="988923" y="1003848"/>
                    <a:pt x="967752" y="1012617"/>
                    <a:pt x="945678" y="1012617"/>
                  </a:cubicBezTo>
                  <a:lnTo>
                    <a:pt x="83233" y="1012617"/>
                  </a:lnTo>
                  <a:cubicBezTo>
                    <a:pt x="61158" y="1012617"/>
                    <a:pt x="39987" y="1003848"/>
                    <a:pt x="24378" y="988239"/>
                  </a:cubicBezTo>
                  <a:cubicBezTo>
                    <a:pt x="8769" y="972630"/>
                    <a:pt x="0" y="951459"/>
                    <a:pt x="0" y="929384"/>
                  </a:cubicBezTo>
                  <a:lnTo>
                    <a:pt x="0" y="83233"/>
                  </a:lnTo>
                  <a:cubicBezTo>
                    <a:pt x="0" y="61158"/>
                    <a:pt x="8769" y="39987"/>
                    <a:pt x="24378" y="24378"/>
                  </a:cubicBezTo>
                  <a:cubicBezTo>
                    <a:pt x="39987" y="8769"/>
                    <a:pt x="61158" y="0"/>
                    <a:pt x="83233" y="0"/>
                  </a:cubicBezTo>
                  <a:close/>
                </a:path>
              </a:pathLst>
            </a:custGeom>
            <a:solidFill>
              <a:srgbClr val="DFF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0" y="-28575"/>
              <a:ext cx="1028910" cy="104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6"/>
          <p:cNvGrpSpPr/>
          <p:nvPr/>
        </p:nvGrpSpPr>
        <p:grpSpPr>
          <a:xfrm>
            <a:off x="13352656" y="4269514"/>
            <a:ext cx="3906644" cy="3953276"/>
            <a:chOff x="0" y="-28575"/>
            <a:chExt cx="1028910" cy="1041192"/>
          </a:xfrm>
        </p:grpSpPr>
        <p:sp>
          <p:nvSpPr>
            <p:cNvPr id="149" name="Google Shape;149;p16"/>
            <p:cNvSpPr/>
            <p:nvPr/>
          </p:nvSpPr>
          <p:spPr>
            <a:xfrm>
              <a:off x="0" y="0"/>
              <a:ext cx="1028910" cy="1012617"/>
            </a:xfrm>
            <a:custGeom>
              <a:rect b="b" l="l" r="r" t="t"/>
              <a:pathLst>
                <a:path extrusionOk="0" h="1012617" w="1028910">
                  <a:moveTo>
                    <a:pt x="83233" y="0"/>
                  </a:moveTo>
                  <a:lnTo>
                    <a:pt x="945678" y="0"/>
                  </a:lnTo>
                  <a:cubicBezTo>
                    <a:pt x="967752" y="0"/>
                    <a:pt x="988923" y="8769"/>
                    <a:pt x="1004532" y="24378"/>
                  </a:cubicBezTo>
                  <a:cubicBezTo>
                    <a:pt x="1020141" y="39987"/>
                    <a:pt x="1028910" y="61158"/>
                    <a:pt x="1028910" y="83233"/>
                  </a:cubicBezTo>
                  <a:lnTo>
                    <a:pt x="1028910" y="929384"/>
                  </a:lnTo>
                  <a:cubicBezTo>
                    <a:pt x="1028910" y="951459"/>
                    <a:pt x="1020141" y="972630"/>
                    <a:pt x="1004532" y="988239"/>
                  </a:cubicBezTo>
                  <a:cubicBezTo>
                    <a:pt x="988923" y="1003848"/>
                    <a:pt x="967752" y="1012617"/>
                    <a:pt x="945678" y="1012617"/>
                  </a:cubicBezTo>
                  <a:lnTo>
                    <a:pt x="83233" y="1012617"/>
                  </a:lnTo>
                  <a:cubicBezTo>
                    <a:pt x="61158" y="1012617"/>
                    <a:pt x="39987" y="1003848"/>
                    <a:pt x="24378" y="988239"/>
                  </a:cubicBezTo>
                  <a:cubicBezTo>
                    <a:pt x="8769" y="972630"/>
                    <a:pt x="0" y="951459"/>
                    <a:pt x="0" y="929384"/>
                  </a:cubicBezTo>
                  <a:lnTo>
                    <a:pt x="0" y="83233"/>
                  </a:lnTo>
                  <a:cubicBezTo>
                    <a:pt x="0" y="61158"/>
                    <a:pt x="8769" y="39987"/>
                    <a:pt x="24378" y="24378"/>
                  </a:cubicBezTo>
                  <a:cubicBezTo>
                    <a:pt x="39987" y="8769"/>
                    <a:pt x="61158" y="0"/>
                    <a:pt x="83233" y="0"/>
                  </a:cubicBezTo>
                  <a:close/>
                </a:path>
              </a:pathLst>
            </a:custGeom>
            <a:solidFill>
              <a:srgbClr val="DFF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 txBox="1"/>
            <p:nvPr/>
          </p:nvSpPr>
          <p:spPr>
            <a:xfrm>
              <a:off x="0" y="-28575"/>
              <a:ext cx="1028910" cy="104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16"/>
          <p:cNvSpPr txBox="1"/>
          <p:nvPr/>
        </p:nvSpPr>
        <p:spPr>
          <a:xfrm>
            <a:off x="1464317" y="4753692"/>
            <a:ext cx="2952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Stronger customer relationships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1464317" y="5991098"/>
            <a:ext cx="30354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Personalized service and loyalty initiatives encouraged repeat visits and strengthened customer trust.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9680278" y="4753692"/>
            <a:ext cx="29760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Expanded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  <a:p>
            <a:pPr indent="0" lvl="0" marL="0" marR="0" rtl="0" algn="l">
              <a:lnSpc>
                <a:spcPct val="13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product range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9680278" y="5991098"/>
            <a:ext cx="29760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New product categories attracted more shoppers while increasing average purchase value.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5533933" y="4753692"/>
            <a:ext cx="31686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Operational improvements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5533933" y="5991098"/>
            <a:ext cx="3168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Workflow enhancements reduced delays and improved inventory availability.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3790716" y="4753692"/>
            <a:ext cx="28155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Community engagement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13790716" y="5991098"/>
            <a:ext cx="2815500" cy="16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Local partnerships and seasonal events increased brand awareness throughout the year.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159" name="Google Shape;159;p16"/>
          <p:cNvGrpSpPr/>
          <p:nvPr/>
        </p:nvGrpSpPr>
        <p:grpSpPr>
          <a:xfrm>
            <a:off x="484225" y="9315617"/>
            <a:ext cx="3136358" cy="338718"/>
            <a:chOff x="0" y="503567"/>
            <a:chExt cx="3912622" cy="555548"/>
          </a:xfrm>
        </p:grpSpPr>
        <p:sp>
          <p:nvSpPr>
            <p:cNvPr id="160" name="Google Shape;160;p16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1" name="Google Shape;161;p16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951" u="none" cap="none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 sz="1138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62" name="Google Shape;162;p16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163" name="Google Shape;163;p16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64" name="Google Shape;164;p16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5" name="Google Shape;16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60483" y="1096100"/>
            <a:ext cx="6798900" cy="257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D39FF"/>
            </a:gs>
            <a:gs pos="100000">
              <a:srgbClr val="00D0FF"/>
            </a:gs>
          </a:gsLst>
          <a:lin ang="2700000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7"/>
          <p:cNvGrpSpPr/>
          <p:nvPr/>
        </p:nvGrpSpPr>
        <p:grpSpPr>
          <a:xfrm>
            <a:off x="1104271" y="4971155"/>
            <a:ext cx="2698802" cy="332301"/>
            <a:chOff x="0" y="-47625"/>
            <a:chExt cx="3598403" cy="443068"/>
          </a:xfrm>
        </p:grpSpPr>
        <p:sp>
          <p:nvSpPr>
            <p:cNvPr id="171" name="Google Shape;171;p17"/>
            <p:cNvSpPr txBox="1"/>
            <p:nvPr/>
          </p:nvSpPr>
          <p:spPr>
            <a:xfrm>
              <a:off x="432336" y="-47625"/>
              <a:ext cx="3166067" cy="443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14%</a:t>
              </a:r>
              <a:endParaRPr/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0" y="139461"/>
              <a:ext cx="330907" cy="180495"/>
            </a:xfrm>
            <a:custGeom>
              <a:rect b="b" l="l" r="r" t="t"/>
              <a:pathLst>
                <a:path extrusionOk="0" h="180495" w="330907">
                  <a:moveTo>
                    <a:pt x="0" y="0"/>
                  </a:moveTo>
                  <a:lnTo>
                    <a:pt x="330907" y="0"/>
                  </a:lnTo>
                  <a:lnTo>
                    <a:pt x="330907" y="180495"/>
                  </a:lnTo>
                  <a:lnTo>
                    <a:pt x="0" y="18049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73" name="Google Shape;173;p17"/>
          <p:cNvGrpSpPr/>
          <p:nvPr/>
        </p:nvGrpSpPr>
        <p:grpSpPr>
          <a:xfrm>
            <a:off x="1104271" y="8508593"/>
            <a:ext cx="2698902" cy="307800"/>
            <a:chOff x="0" y="-47625"/>
            <a:chExt cx="3598536" cy="410400"/>
          </a:xfrm>
        </p:grpSpPr>
        <p:sp>
          <p:nvSpPr>
            <p:cNvPr id="174" name="Google Shape;174;p17"/>
            <p:cNvSpPr txBox="1"/>
            <p:nvPr/>
          </p:nvSpPr>
          <p:spPr>
            <a:xfrm>
              <a:off x="432336" y="-47625"/>
              <a:ext cx="31662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2.4 pts</a:t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0" y="139461"/>
              <a:ext cx="330907" cy="180495"/>
            </a:xfrm>
            <a:custGeom>
              <a:rect b="b" l="l" r="r" t="t"/>
              <a:pathLst>
                <a:path extrusionOk="0" h="180495" w="330907">
                  <a:moveTo>
                    <a:pt x="0" y="0"/>
                  </a:moveTo>
                  <a:lnTo>
                    <a:pt x="330907" y="0"/>
                  </a:lnTo>
                  <a:lnTo>
                    <a:pt x="330907" y="180495"/>
                  </a:lnTo>
                  <a:lnTo>
                    <a:pt x="0" y="18049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76" name="Google Shape;176;p17"/>
          <p:cNvGrpSpPr/>
          <p:nvPr/>
        </p:nvGrpSpPr>
        <p:grpSpPr>
          <a:xfrm>
            <a:off x="10029873" y="4971155"/>
            <a:ext cx="2698802" cy="332301"/>
            <a:chOff x="0" y="-47625"/>
            <a:chExt cx="3598403" cy="443068"/>
          </a:xfrm>
        </p:grpSpPr>
        <p:sp>
          <p:nvSpPr>
            <p:cNvPr id="177" name="Google Shape;177;p17"/>
            <p:cNvSpPr txBox="1"/>
            <p:nvPr/>
          </p:nvSpPr>
          <p:spPr>
            <a:xfrm>
              <a:off x="432336" y="-47625"/>
              <a:ext cx="3166067" cy="443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6% YoY</a:t>
              </a:r>
              <a:endParaRPr/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0" y="139461"/>
              <a:ext cx="330907" cy="180495"/>
            </a:xfrm>
            <a:custGeom>
              <a:rect b="b" l="l" r="r" t="t"/>
              <a:pathLst>
                <a:path extrusionOk="0" h="180495" w="330907">
                  <a:moveTo>
                    <a:pt x="0" y="0"/>
                  </a:moveTo>
                  <a:lnTo>
                    <a:pt x="330907" y="0"/>
                  </a:lnTo>
                  <a:lnTo>
                    <a:pt x="330907" y="180495"/>
                  </a:lnTo>
                  <a:lnTo>
                    <a:pt x="0" y="18049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79" name="Google Shape;179;p17"/>
          <p:cNvGrpSpPr/>
          <p:nvPr/>
        </p:nvGrpSpPr>
        <p:grpSpPr>
          <a:xfrm>
            <a:off x="10029873" y="8508593"/>
            <a:ext cx="2698902" cy="307800"/>
            <a:chOff x="0" y="-47625"/>
            <a:chExt cx="3598536" cy="410400"/>
          </a:xfrm>
        </p:grpSpPr>
        <p:sp>
          <p:nvSpPr>
            <p:cNvPr id="180" name="Google Shape;180;p17"/>
            <p:cNvSpPr txBox="1"/>
            <p:nvPr/>
          </p:nvSpPr>
          <p:spPr>
            <a:xfrm>
              <a:off x="432336" y="-47625"/>
              <a:ext cx="31662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11%</a:t>
              </a:r>
              <a:endParaRPr/>
            </a:p>
          </p:txBody>
        </p:sp>
        <p:sp>
          <p:nvSpPr>
            <p:cNvPr id="181" name="Google Shape;181;p17"/>
            <p:cNvSpPr/>
            <p:nvPr/>
          </p:nvSpPr>
          <p:spPr>
            <a:xfrm>
              <a:off x="0" y="139461"/>
              <a:ext cx="330907" cy="180495"/>
            </a:xfrm>
            <a:custGeom>
              <a:rect b="b" l="l" r="r" t="t"/>
              <a:pathLst>
                <a:path extrusionOk="0" h="180495" w="330907">
                  <a:moveTo>
                    <a:pt x="0" y="0"/>
                  </a:moveTo>
                  <a:lnTo>
                    <a:pt x="330907" y="0"/>
                  </a:lnTo>
                  <a:lnTo>
                    <a:pt x="330907" y="180495"/>
                  </a:lnTo>
                  <a:lnTo>
                    <a:pt x="0" y="18049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82" name="Google Shape;182;p17"/>
          <p:cNvSpPr txBox="1"/>
          <p:nvPr/>
        </p:nvSpPr>
        <p:spPr>
          <a:xfrm>
            <a:off x="1028700" y="942750"/>
            <a:ext cx="161283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0" u="none" cap="none" strike="noStrike">
                <a:solidFill>
                  <a:srgbClr val="FFFF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Financial performance</a:t>
            </a:r>
            <a:endParaRPr sz="10000"/>
          </a:p>
        </p:txBody>
      </p:sp>
      <p:sp>
        <p:nvSpPr>
          <p:cNvPr id="183" name="Google Shape;183;p17"/>
          <p:cNvSpPr txBox="1"/>
          <p:nvPr/>
        </p:nvSpPr>
        <p:spPr>
          <a:xfrm>
            <a:off x="15249241" y="819150"/>
            <a:ext cx="23787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 quick snapshot of the year's most important metrics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1104271" y="3081906"/>
            <a:ext cx="52194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$7.48M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104271" y="6619344"/>
            <a:ext cx="52194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39.8%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0029873" y="3081906"/>
            <a:ext cx="52194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86%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0029873" y="6619344"/>
            <a:ext cx="5219400" cy="17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2,340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104279" y="2697300"/>
            <a:ext cx="4651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Annual revenue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104271" y="6234729"/>
            <a:ext cx="3603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Gross profit margin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10029873" y="2697291"/>
            <a:ext cx="3976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 retention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0029873" y="6234729"/>
            <a:ext cx="4497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Average monthly orders</a:t>
            </a:r>
            <a:endParaRPr/>
          </a:p>
        </p:txBody>
      </p:sp>
      <p:cxnSp>
        <p:nvCxnSpPr>
          <p:cNvPr id="192" name="Google Shape;192;p17"/>
          <p:cNvCxnSpPr/>
          <p:nvPr/>
        </p:nvCxnSpPr>
        <p:spPr>
          <a:xfrm>
            <a:off x="1028700" y="5760002"/>
            <a:ext cx="7229427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17"/>
          <p:cNvCxnSpPr/>
          <p:nvPr/>
        </p:nvCxnSpPr>
        <p:spPr>
          <a:xfrm>
            <a:off x="10029873" y="5760002"/>
            <a:ext cx="7229427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4" name="Google Shape;194;p17"/>
          <p:cNvGrpSpPr/>
          <p:nvPr/>
        </p:nvGrpSpPr>
        <p:grpSpPr>
          <a:xfrm>
            <a:off x="484225" y="9315617"/>
            <a:ext cx="3136358" cy="338718"/>
            <a:chOff x="0" y="503567"/>
            <a:chExt cx="3912622" cy="555548"/>
          </a:xfrm>
        </p:grpSpPr>
        <p:sp>
          <p:nvSpPr>
            <p:cNvPr id="195" name="Google Shape;195;p17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6" name="Google Shape;196;p17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951" u="none" cap="none" strike="noStrike">
                  <a:solidFill>
                    <a:schemeClr val="lt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 sz="1138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197" name="Google Shape;197;p17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198" name="Google Shape;198;p17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9" name="Google Shape;199;p17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/>
        </p:nvSpPr>
        <p:spPr>
          <a:xfrm>
            <a:off x="1028700" y="809600"/>
            <a:ext cx="12881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0F1A38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Revenue </a:t>
            </a:r>
            <a:r>
              <a:rPr b="0" i="0" lang="en-US" sz="12000" u="none" cap="none" strike="noStrike">
                <a:solidFill>
                  <a:srgbClr val="7D39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growth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2425854" y="1059306"/>
            <a:ext cx="5100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99" u="none" cap="none" strike="noStrike">
                <a:solidFill>
                  <a:srgbClr val="0F1A3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Seasonal promotions and customer retention drove steady revenue growth.</a:t>
            </a:r>
            <a:endParaRPr sz="12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aphicFrame>
        <p:nvGraphicFramePr>
          <p:cNvPr id="206" name="Google Shape;206;p18"/>
          <p:cNvGraphicFramePr/>
          <p:nvPr/>
        </p:nvGraphicFramePr>
        <p:xfrm>
          <a:off x="1028700" y="29906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{E6B7D907-0049-4A28-909F-3A5B010B388B}</a:tableStyleId>
              </a:tblPr>
              <a:tblGrid>
                <a:gridCol w="3086825"/>
                <a:gridCol w="3261875"/>
                <a:gridCol w="3947150"/>
                <a:gridCol w="5915700"/>
              </a:tblGrid>
              <a:tr h="85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Quarter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3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Store revenue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3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Online revenue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3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Key insight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3FFF"/>
                    </a:solidFill>
                  </a:tcPr>
                </a:tc>
              </a:tr>
              <a:tr h="11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Q1 (January-March)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$910,000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$645,000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Established steady revenue growth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across both store and online channels</a:t>
                      </a:r>
                      <a:endParaRPr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Q2 (April-June)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$1,470,000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$825,000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Revenue accelerated, supported by seasonal promotions and increased customer activity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0FF"/>
                    </a:solidFill>
                  </a:tcPr>
                </a:tc>
              </a:tr>
              <a:tr h="107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Q3 (July-September)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$2,030,000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$1,190,000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Strong momentum continued, with both channels reaching their highest performance to date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Q4 (October-December)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$2,325,000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$1,475,000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Year-end sales drove the strongest quarterly</a:t>
                      </a:r>
                      <a:endParaRPr sz="1100" u="none" cap="none" strike="noStrike"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Be Vietnam Pro"/>
                          <a:ea typeface="Be Vietnam Pro"/>
                          <a:cs typeface="Be Vietnam Pro"/>
                          <a:sym typeface="Be Vietnam Pro"/>
                        </a:rPr>
                        <a:t>revenue, closing the year on a high note</a:t>
                      </a:r>
                      <a:endParaRPr>
                        <a:latin typeface="Be Vietnam Pro"/>
                        <a:ea typeface="Be Vietnam Pro"/>
                        <a:cs typeface="Be Vietnam Pro"/>
                        <a:sym typeface="Be Vietnam Pro"/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0FF"/>
                    </a:solidFill>
                  </a:tcPr>
                </a:tc>
              </a:tr>
            </a:tbl>
          </a:graphicData>
        </a:graphic>
      </p:graphicFrame>
      <p:grpSp>
        <p:nvGrpSpPr>
          <p:cNvPr id="207" name="Google Shape;207;p18"/>
          <p:cNvGrpSpPr/>
          <p:nvPr/>
        </p:nvGrpSpPr>
        <p:grpSpPr>
          <a:xfrm>
            <a:off x="484225" y="9315617"/>
            <a:ext cx="3136358" cy="338718"/>
            <a:chOff x="0" y="503567"/>
            <a:chExt cx="3912622" cy="555548"/>
          </a:xfrm>
        </p:grpSpPr>
        <p:sp>
          <p:nvSpPr>
            <p:cNvPr id="208" name="Google Shape;208;p18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9" name="Google Shape;209;p18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951" u="none" cap="none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 sz="1138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210" name="Google Shape;210;p18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211" name="Google Shape;211;p18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12" name="Google Shape;212;p18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"/>
          <p:cNvSpPr txBox="1"/>
          <p:nvPr/>
        </p:nvSpPr>
        <p:spPr>
          <a:xfrm>
            <a:off x="1028700" y="825177"/>
            <a:ext cx="6687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0F1A38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Strategic </a:t>
            </a:r>
            <a:r>
              <a:rPr b="0" i="0" lang="en-US" sz="12000" u="none" cap="none" strike="noStrike">
                <a:solidFill>
                  <a:srgbClr val="7D39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priorities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1028700" y="4740074"/>
            <a:ext cx="64659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99" u="none" cap="none" strike="noStrike">
                <a:solidFill>
                  <a:srgbClr val="0F1A3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Core product categories continued driving sales while specialty offerings generated additional growth opportunities.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219" name="Google Shape;219;p19"/>
          <p:cNvGrpSpPr/>
          <p:nvPr/>
        </p:nvGrpSpPr>
        <p:grpSpPr>
          <a:xfrm>
            <a:off x="9205979" y="801959"/>
            <a:ext cx="8053321" cy="8151560"/>
            <a:chOff x="0" y="-28575"/>
            <a:chExt cx="2121039" cy="2146913"/>
          </a:xfrm>
        </p:grpSpPr>
        <p:sp>
          <p:nvSpPr>
            <p:cNvPr id="220" name="Google Shape;220;p19"/>
            <p:cNvSpPr/>
            <p:nvPr/>
          </p:nvSpPr>
          <p:spPr>
            <a:xfrm>
              <a:off x="0" y="0"/>
              <a:ext cx="2121039" cy="2118338"/>
            </a:xfrm>
            <a:custGeom>
              <a:rect b="b" l="l" r="r" t="t"/>
              <a:pathLst>
                <a:path extrusionOk="0" h="2118338" w="2121039">
                  <a:moveTo>
                    <a:pt x="40376" y="0"/>
                  </a:moveTo>
                  <a:lnTo>
                    <a:pt x="2080663" y="0"/>
                  </a:lnTo>
                  <a:cubicBezTo>
                    <a:pt x="2091372" y="0"/>
                    <a:pt x="2101641" y="4254"/>
                    <a:pt x="2109214" y="11826"/>
                  </a:cubicBezTo>
                  <a:cubicBezTo>
                    <a:pt x="2116786" y="19398"/>
                    <a:pt x="2121039" y="29668"/>
                    <a:pt x="2121039" y="40376"/>
                  </a:cubicBezTo>
                  <a:lnTo>
                    <a:pt x="2121039" y="2077962"/>
                  </a:lnTo>
                  <a:cubicBezTo>
                    <a:pt x="2121039" y="2088670"/>
                    <a:pt x="2116786" y="2098940"/>
                    <a:pt x="2109214" y="2106512"/>
                  </a:cubicBezTo>
                  <a:cubicBezTo>
                    <a:pt x="2101641" y="2114084"/>
                    <a:pt x="2091372" y="2118338"/>
                    <a:pt x="2080663" y="2118338"/>
                  </a:cubicBezTo>
                  <a:lnTo>
                    <a:pt x="40376" y="2118338"/>
                  </a:lnTo>
                  <a:cubicBezTo>
                    <a:pt x="29668" y="2118338"/>
                    <a:pt x="19398" y="2114084"/>
                    <a:pt x="11826" y="2106512"/>
                  </a:cubicBezTo>
                  <a:cubicBezTo>
                    <a:pt x="4254" y="2098940"/>
                    <a:pt x="0" y="2088670"/>
                    <a:pt x="0" y="2077962"/>
                  </a:cubicBezTo>
                  <a:lnTo>
                    <a:pt x="0" y="40376"/>
                  </a:lnTo>
                  <a:cubicBezTo>
                    <a:pt x="0" y="29668"/>
                    <a:pt x="4254" y="19398"/>
                    <a:pt x="11826" y="11826"/>
                  </a:cubicBezTo>
                  <a:cubicBezTo>
                    <a:pt x="19398" y="4254"/>
                    <a:pt x="29668" y="0"/>
                    <a:pt x="40376" y="0"/>
                  </a:cubicBezTo>
                  <a:close/>
                </a:path>
              </a:pathLst>
            </a:custGeom>
            <a:solidFill>
              <a:srgbClr val="DFF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0" y="-28575"/>
              <a:ext cx="2121039" cy="2146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2" name="Google Shape;2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3006" y="1329686"/>
            <a:ext cx="9181411" cy="7330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19"/>
          <p:cNvGrpSpPr/>
          <p:nvPr/>
        </p:nvGrpSpPr>
        <p:grpSpPr>
          <a:xfrm>
            <a:off x="484225" y="9315617"/>
            <a:ext cx="3136358" cy="338718"/>
            <a:chOff x="0" y="503567"/>
            <a:chExt cx="3912622" cy="555548"/>
          </a:xfrm>
        </p:grpSpPr>
        <p:sp>
          <p:nvSpPr>
            <p:cNvPr id="224" name="Google Shape;224;p19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5" name="Google Shape;225;p19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951" u="none" cap="none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 sz="1138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28" name="Google Shape;228;p19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/>
        </p:nvSpPr>
        <p:spPr>
          <a:xfrm>
            <a:off x="1028700" y="7395382"/>
            <a:ext cx="10064323" cy="1422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0F1A38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Looking </a:t>
            </a:r>
            <a:r>
              <a:rPr b="0" i="0" lang="en-US" sz="12000" u="none" cap="none" strike="noStrike">
                <a:solidFill>
                  <a:srgbClr val="7D39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ahead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2062374" y="1036625"/>
            <a:ext cx="79971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Metro Ma</a:t>
            </a:r>
            <a:r>
              <a:rPr b="1" lang="en-US" sz="2499">
                <a:solidFill>
                  <a:srgbClr val="0F1A38"/>
                </a:solidFill>
              </a:rPr>
              <a:t>r</a:t>
            </a:r>
            <a:r>
              <a:rPr b="1" i="0" lang="en-US" sz="2499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kets gameplan heading into 2036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1028700" y="851728"/>
            <a:ext cx="768948" cy="739588"/>
          </a:xfrm>
          <a:custGeom>
            <a:rect b="b" l="l" r="r" t="t"/>
            <a:pathLst>
              <a:path extrusionOk="0" h="739588" w="768948">
                <a:moveTo>
                  <a:pt x="0" y="0"/>
                </a:moveTo>
                <a:lnTo>
                  <a:pt x="768948" y="0"/>
                </a:lnTo>
                <a:lnTo>
                  <a:pt x="768948" y="739588"/>
                </a:lnTo>
                <a:lnTo>
                  <a:pt x="0" y="739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0"/>
          <p:cNvSpPr txBox="1"/>
          <p:nvPr/>
        </p:nvSpPr>
        <p:spPr>
          <a:xfrm>
            <a:off x="12683175" y="7249700"/>
            <a:ext cx="47877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F1A3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As we look toward the year ahead, our focus remains on sustainable growth, operational excellence, and delivering even greater value to our customers.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237" name="Google Shape;237;p20"/>
          <p:cNvGrpSpPr/>
          <p:nvPr/>
        </p:nvGrpSpPr>
        <p:grpSpPr>
          <a:xfrm>
            <a:off x="484225" y="9315617"/>
            <a:ext cx="3136358" cy="338718"/>
            <a:chOff x="0" y="503567"/>
            <a:chExt cx="3912622" cy="555548"/>
          </a:xfrm>
        </p:grpSpPr>
        <p:sp>
          <p:nvSpPr>
            <p:cNvPr id="238" name="Google Shape;238;p20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9" name="Google Shape;239;p20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951" u="none" cap="none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 sz="1138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240" name="Google Shape;240;p20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241" name="Google Shape;241;p20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42" name="Google Shape;242;p20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3" name="Google Shape;2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700" y="2056144"/>
            <a:ext cx="16442173" cy="4728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FF0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1"/>
          <p:cNvGrpSpPr/>
          <p:nvPr/>
        </p:nvGrpSpPr>
        <p:grpSpPr>
          <a:xfrm>
            <a:off x="8800616" y="920204"/>
            <a:ext cx="8458684" cy="2073734"/>
            <a:chOff x="0" y="-28575"/>
            <a:chExt cx="2227802" cy="546169"/>
          </a:xfrm>
        </p:grpSpPr>
        <p:sp>
          <p:nvSpPr>
            <p:cNvPr id="249" name="Google Shape;249;p21"/>
            <p:cNvSpPr/>
            <p:nvPr/>
          </p:nvSpPr>
          <p:spPr>
            <a:xfrm>
              <a:off x="0" y="0"/>
              <a:ext cx="2227802" cy="517594"/>
            </a:xfrm>
            <a:custGeom>
              <a:rect b="b" l="l" r="r" t="t"/>
              <a:pathLst>
                <a:path extrusionOk="0" h="517594" w="2227802">
                  <a:moveTo>
                    <a:pt x="32949" y="0"/>
                  </a:moveTo>
                  <a:lnTo>
                    <a:pt x="2194852" y="0"/>
                  </a:lnTo>
                  <a:cubicBezTo>
                    <a:pt x="2213050" y="0"/>
                    <a:pt x="2227802" y="14752"/>
                    <a:pt x="2227802" y="32949"/>
                  </a:cubicBezTo>
                  <a:lnTo>
                    <a:pt x="2227802" y="484644"/>
                  </a:lnTo>
                  <a:cubicBezTo>
                    <a:pt x="2227802" y="502842"/>
                    <a:pt x="2213050" y="517594"/>
                    <a:pt x="2194852" y="517594"/>
                  </a:cubicBezTo>
                  <a:lnTo>
                    <a:pt x="32949" y="517594"/>
                  </a:lnTo>
                  <a:cubicBezTo>
                    <a:pt x="14752" y="517594"/>
                    <a:pt x="0" y="502842"/>
                    <a:pt x="0" y="484644"/>
                  </a:cubicBezTo>
                  <a:lnTo>
                    <a:pt x="0" y="32949"/>
                  </a:lnTo>
                  <a:cubicBezTo>
                    <a:pt x="0" y="14752"/>
                    <a:pt x="14752" y="0"/>
                    <a:pt x="32949" y="0"/>
                  </a:cubicBez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1"/>
            <p:cNvSpPr txBox="1"/>
            <p:nvPr/>
          </p:nvSpPr>
          <p:spPr>
            <a:xfrm>
              <a:off x="0" y="-28575"/>
              <a:ext cx="2227802" cy="546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21"/>
          <p:cNvGrpSpPr/>
          <p:nvPr/>
        </p:nvGrpSpPr>
        <p:grpSpPr>
          <a:xfrm>
            <a:off x="8800616" y="5132814"/>
            <a:ext cx="8458684" cy="2073734"/>
            <a:chOff x="0" y="-28575"/>
            <a:chExt cx="2227802" cy="546169"/>
          </a:xfrm>
        </p:grpSpPr>
        <p:sp>
          <p:nvSpPr>
            <p:cNvPr id="252" name="Google Shape;252;p21"/>
            <p:cNvSpPr/>
            <p:nvPr/>
          </p:nvSpPr>
          <p:spPr>
            <a:xfrm>
              <a:off x="0" y="0"/>
              <a:ext cx="2227802" cy="517594"/>
            </a:xfrm>
            <a:custGeom>
              <a:rect b="b" l="l" r="r" t="t"/>
              <a:pathLst>
                <a:path extrusionOk="0" h="517594" w="2227802">
                  <a:moveTo>
                    <a:pt x="32949" y="0"/>
                  </a:moveTo>
                  <a:lnTo>
                    <a:pt x="2194852" y="0"/>
                  </a:lnTo>
                  <a:cubicBezTo>
                    <a:pt x="2213050" y="0"/>
                    <a:pt x="2227802" y="14752"/>
                    <a:pt x="2227802" y="32949"/>
                  </a:cubicBezTo>
                  <a:lnTo>
                    <a:pt x="2227802" y="484644"/>
                  </a:lnTo>
                  <a:cubicBezTo>
                    <a:pt x="2227802" y="502842"/>
                    <a:pt x="2213050" y="517594"/>
                    <a:pt x="2194852" y="517594"/>
                  </a:cubicBezTo>
                  <a:lnTo>
                    <a:pt x="32949" y="517594"/>
                  </a:lnTo>
                  <a:cubicBezTo>
                    <a:pt x="14752" y="517594"/>
                    <a:pt x="0" y="502842"/>
                    <a:pt x="0" y="484644"/>
                  </a:cubicBezTo>
                  <a:lnTo>
                    <a:pt x="0" y="32949"/>
                  </a:lnTo>
                  <a:cubicBezTo>
                    <a:pt x="0" y="14752"/>
                    <a:pt x="14752" y="0"/>
                    <a:pt x="32949" y="0"/>
                  </a:cubicBez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1"/>
            <p:cNvSpPr txBox="1"/>
            <p:nvPr/>
          </p:nvSpPr>
          <p:spPr>
            <a:xfrm>
              <a:off x="0" y="-28575"/>
              <a:ext cx="2227802" cy="546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21"/>
          <p:cNvGrpSpPr/>
          <p:nvPr/>
        </p:nvGrpSpPr>
        <p:grpSpPr>
          <a:xfrm>
            <a:off x="8800616" y="3024701"/>
            <a:ext cx="8458684" cy="2073734"/>
            <a:chOff x="0" y="-28575"/>
            <a:chExt cx="2227802" cy="546169"/>
          </a:xfrm>
        </p:grpSpPr>
        <p:sp>
          <p:nvSpPr>
            <p:cNvPr id="255" name="Google Shape;255;p21"/>
            <p:cNvSpPr/>
            <p:nvPr/>
          </p:nvSpPr>
          <p:spPr>
            <a:xfrm>
              <a:off x="0" y="0"/>
              <a:ext cx="2227802" cy="517594"/>
            </a:xfrm>
            <a:custGeom>
              <a:rect b="b" l="l" r="r" t="t"/>
              <a:pathLst>
                <a:path extrusionOk="0" h="517594" w="2227802">
                  <a:moveTo>
                    <a:pt x="32949" y="0"/>
                  </a:moveTo>
                  <a:lnTo>
                    <a:pt x="2194852" y="0"/>
                  </a:lnTo>
                  <a:cubicBezTo>
                    <a:pt x="2213050" y="0"/>
                    <a:pt x="2227802" y="14752"/>
                    <a:pt x="2227802" y="32949"/>
                  </a:cubicBezTo>
                  <a:lnTo>
                    <a:pt x="2227802" y="484644"/>
                  </a:lnTo>
                  <a:cubicBezTo>
                    <a:pt x="2227802" y="502842"/>
                    <a:pt x="2213050" y="517594"/>
                    <a:pt x="2194852" y="517594"/>
                  </a:cubicBezTo>
                  <a:lnTo>
                    <a:pt x="32949" y="517594"/>
                  </a:lnTo>
                  <a:cubicBezTo>
                    <a:pt x="14752" y="517594"/>
                    <a:pt x="0" y="502842"/>
                    <a:pt x="0" y="484644"/>
                  </a:cubicBezTo>
                  <a:lnTo>
                    <a:pt x="0" y="32949"/>
                  </a:lnTo>
                  <a:cubicBezTo>
                    <a:pt x="0" y="14752"/>
                    <a:pt x="14752" y="0"/>
                    <a:pt x="329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0" y="-28575"/>
              <a:ext cx="2227802" cy="546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21"/>
          <p:cNvGrpSpPr/>
          <p:nvPr/>
        </p:nvGrpSpPr>
        <p:grpSpPr>
          <a:xfrm>
            <a:off x="8800616" y="7240927"/>
            <a:ext cx="8458684" cy="2073734"/>
            <a:chOff x="0" y="-28575"/>
            <a:chExt cx="2227802" cy="546169"/>
          </a:xfrm>
        </p:grpSpPr>
        <p:sp>
          <p:nvSpPr>
            <p:cNvPr id="258" name="Google Shape;258;p21"/>
            <p:cNvSpPr/>
            <p:nvPr/>
          </p:nvSpPr>
          <p:spPr>
            <a:xfrm>
              <a:off x="0" y="0"/>
              <a:ext cx="2227802" cy="517594"/>
            </a:xfrm>
            <a:custGeom>
              <a:rect b="b" l="l" r="r" t="t"/>
              <a:pathLst>
                <a:path extrusionOk="0" h="517594" w="2227802">
                  <a:moveTo>
                    <a:pt x="32949" y="0"/>
                  </a:moveTo>
                  <a:lnTo>
                    <a:pt x="2194852" y="0"/>
                  </a:lnTo>
                  <a:cubicBezTo>
                    <a:pt x="2213050" y="0"/>
                    <a:pt x="2227802" y="14752"/>
                    <a:pt x="2227802" y="32949"/>
                  </a:cubicBezTo>
                  <a:lnTo>
                    <a:pt x="2227802" y="484644"/>
                  </a:lnTo>
                  <a:cubicBezTo>
                    <a:pt x="2227802" y="502842"/>
                    <a:pt x="2213050" y="517594"/>
                    <a:pt x="2194852" y="517594"/>
                  </a:cubicBezTo>
                  <a:lnTo>
                    <a:pt x="32949" y="517594"/>
                  </a:lnTo>
                  <a:cubicBezTo>
                    <a:pt x="14752" y="517594"/>
                    <a:pt x="0" y="502842"/>
                    <a:pt x="0" y="484644"/>
                  </a:cubicBezTo>
                  <a:lnTo>
                    <a:pt x="0" y="32949"/>
                  </a:lnTo>
                  <a:cubicBezTo>
                    <a:pt x="0" y="14752"/>
                    <a:pt x="14752" y="0"/>
                    <a:pt x="329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1"/>
            <p:cNvSpPr txBox="1"/>
            <p:nvPr/>
          </p:nvSpPr>
          <p:spPr>
            <a:xfrm>
              <a:off x="0" y="-28575"/>
              <a:ext cx="2227802" cy="5461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21"/>
          <p:cNvSpPr/>
          <p:nvPr/>
        </p:nvSpPr>
        <p:spPr>
          <a:xfrm>
            <a:off x="9332627" y="1534899"/>
            <a:ext cx="1330106" cy="952840"/>
          </a:xfrm>
          <a:custGeom>
            <a:rect b="b" l="l" r="r" t="t"/>
            <a:pathLst>
              <a:path extrusionOk="0" h="952840" w="1330106">
                <a:moveTo>
                  <a:pt x="0" y="0"/>
                </a:moveTo>
                <a:lnTo>
                  <a:pt x="1330106" y="0"/>
                </a:lnTo>
                <a:lnTo>
                  <a:pt x="1330106" y="952840"/>
                </a:lnTo>
                <a:lnTo>
                  <a:pt x="0" y="952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21"/>
          <p:cNvSpPr/>
          <p:nvPr/>
        </p:nvSpPr>
        <p:spPr>
          <a:xfrm>
            <a:off x="9436464" y="3541410"/>
            <a:ext cx="1122431" cy="1151748"/>
          </a:xfrm>
          <a:custGeom>
            <a:rect b="b" l="l" r="r" t="t"/>
            <a:pathLst>
              <a:path extrusionOk="0" h="1151748" w="1122431">
                <a:moveTo>
                  <a:pt x="0" y="0"/>
                </a:moveTo>
                <a:lnTo>
                  <a:pt x="1122432" y="0"/>
                </a:lnTo>
                <a:lnTo>
                  <a:pt x="1122432" y="1151748"/>
                </a:lnTo>
                <a:lnTo>
                  <a:pt x="0" y="1151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p21"/>
          <p:cNvSpPr/>
          <p:nvPr/>
        </p:nvSpPr>
        <p:spPr>
          <a:xfrm>
            <a:off x="9538028" y="7756168"/>
            <a:ext cx="919305" cy="1151748"/>
          </a:xfrm>
          <a:custGeom>
            <a:rect b="b" l="l" r="r" t="t"/>
            <a:pathLst>
              <a:path extrusionOk="0" h="1151748" w="919305">
                <a:moveTo>
                  <a:pt x="0" y="0"/>
                </a:moveTo>
                <a:lnTo>
                  <a:pt x="919304" y="0"/>
                </a:lnTo>
                <a:lnTo>
                  <a:pt x="919304" y="1151748"/>
                </a:lnTo>
                <a:lnTo>
                  <a:pt x="0" y="1151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1"/>
          <p:cNvSpPr/>
          <p:nvPr/>
        </p:nvSpPr>
        <p:spPr>
          <a:xfrm>
            <a:off x="9565437" y="5731696"/>
            <a:ext cx="864486" cy="952840"/>
          </a:xfrm>
          <a:custGeom>
            <a:rect b="b" l="l" r="r" t="t"/>
            <a:pathLst>
              <a:path extrusionOk="0" h="952840" w="864486">
                <a:moveTo>
                  <a:pt x="0" y="0"/>
                </a:moveTo>
                <a:lnTo>
                  <a:pt x="864486" y="0"/>
                </a:lnTo>
                <a:lnTo>
                  <a:pt x="864486" y="952840"/>
                </a:lnTo>
                <a:lnTo>
                  <a:pt x="0" y="952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21"/>
          <p:cNvSpPr txBox="1"/>
          <p:nvPr/>
        </p:nvSpPr>
        <p:spPr>
          <a:xfrm>
            <a:off x="1028700" y="872802"/>
            <a:ext cx="6799125" cy="286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7D39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Strategic </a:t>
            </a:r>
            <a:r>
              <a:rPr b="0" i="0" lang="en-US" sz="12000" u="none" cap="none" strike="noStrike">
                <a:solidFill>
                  <a:srgbClr val="0F1A38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priorities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11019877" y="1275494"/>
            <a:ext cx="5558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Grow customer loyalty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11019877" y="1789628"/>
            <a:ext cx="55581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We'll enhance our loyalty program with more personalized rewards, exclusive promotions, and improved customer engagement initiatives. 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11019877" y="3360941"/>
            <a:ext cx="5744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Increase operational efficiency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1019877" y="3875075"/>
            <a:ext cx="57444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We'll continue refining internal processes, adopting smarter inventory planning, and streamlining Metro Markets operations.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11019877" y="5469910"/>
            <a:ext cx="4738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Expand product selection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11019877" y="5988807"/>
            <a:ext cx="47388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Guided by customer feedback and purchasing trends, we'll introduce products that meet evolving needs.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11019877" y="7530398"/>
            <a:ext cx="6303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Strengthen community presence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11019875" y="8044525"/>
            <a:ext cx="58485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700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We'll deepen our involvement in local events, partnerships, and community initiatives to build stronger relationships and increase brand visibility.</a:t>
            </a:r>
            <a:endParaRPr sz="1100"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273" name="Google Shape;273;p21"/>
          <p:cNvGrpSpPr/>
          <p:nvPr/>
        </p:nvGrpSpPr>
        <p:grpSpPr>
          <a:xfrm>
            <a:off x="484225" y="9315617"/>
            <a:ext cx="3136358" cy="338718"/>
            <a:chOff x="0" y="503567"/>
            <a:chExt cx="3912622" cy="555548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503567"/>
              <a:ext cx="553691" cy="555548"/>
            </a:xfrm>
            <a:custGeom>
              <a:rect b="b" l="l" r="r" t="t"/>
              <a:pathLst>
                <a:path extrusionOk="0" h="555548" w="553691">
                  <a:moveTo>
                    <a:pt x="0" y="0"/>
                  </a:moveTo>
                  <a:lnTo>
                    <a:pt x="553691" y="0"/>
                  </a:lnTo>
                  <a:lnTo>
                    <a:pt x="553691" y="555548"/>
                  </a:lnTo>
                  <a:lnTo>
                    <a:pt x="0" y="5555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5" name="Google Shape;275;p21"/>
            <p:cNvSpPr txBox="1"/>
            <p:nvPr/>
          </p:nvSpPr>
          <p:spPr>
            <a:xfrm>
              <a:off x="865822" y="535044"/>
              <a:ext cx="3046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951" u="none" cap="none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Metro Markets</a:t>
              </a:r>
              <a:endParaRPr sz="1138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78" name="Google Shape;278;p21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43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22"/>
          <p:cNvCxnSpPr/>
          <p:nvPr/>
        </p:nvCxnSpPr>
        <p:spPr>
          <a:xfrm>
            <a:off x="1028700" y="6681622"/>
            <a:ext cx="16230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22"/>
          <p:cNvSpPr/>
          <p:nvPr/>
        </p:nvSpPr>
        <p:spPr>
          <a:xfrm>
            <a:off x="1028700" y="8202794"/>
            <a:ext cx="648091" cy="430097"/>
          </a:xfrm>
          <a:custGeom>
            <a:rect b="b" l="l" r="r" t="t"/>
            <a:pathLst>
              <a:path extrusionOk="0" h="430097" w="648091">
                <a:moveTo>
                  <a:pt x="0" y="0"/>
                </a:moveTo>
                <a:lnTo>
                  <a:pt x="648091" y="0"/>
                </a:lnTo>
                <a:lnTo>
                  <a:pt x="648091" y="430097"/>
                </a:lnTo>
                <a:lnTo>
                  <a:pt x="0" y="430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22"/>
          <p:cNvSpPr/>
          <p:nvPr/>
        </p:nvSpPr>
        <p:spPr>
          <a:xfrm>
            <a:off x="6827743" y="8202794"/>
            <a:ext cx="691950" cy="587528"/>
          </a:xfrm>
          <a:custGeom>
            <a:rect b="b" l="l" r="r" t="t"/>
            <a:pathLst>
              <a:path extrusionOk="0" h="587528" w="691950">
                <a:moveTo>
                  <a:pt x="0" y="0"/>
                </a:moveTo>
                <a:lnTo>
                  <a:pt x="691949" y="0"/>
                </a:lnTo>
                <a:lnTo>
                  <a:pt x="691949" y="587529"/>
                </a:lnTo>
                <a:lnTo>
                  <a:pt x="0" y="587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22"/>
          <p:cNvSpPr/>
          <p:nvPr/>
        </p:nvSpPr>
        <p:spPr>
          <a:xfrm>
            <a:off x="11823006" y="8154381"/>
            <a:ext cx="528847" cy="526924"/>
          </a:xfrm>
          <a:custGeom>
            <a:rect b="b" l="l" r="r" t="t"/>
            <a:pathLst>
              <a:path extrusionOk="0" h="526924" w="528847">
                <a:moveTo>
                  <a:pt x="0" y="0"/>
                </a:moveTo>
                <a:lnTo>
                  <a:pt x="528847" y="0"/>
                </a:lnTo>
                <a:lnTo>
                  <a:pt x="528847" y="526924"/>
                </a:lnTo>
                <a:lnTo>
                  <a:pt x="0" y="5269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22"/>
          <p:cNvSpPr txBox="1"/>
          <p:nvPr/>
        </p:nvSpPr>
        <p:spPr>
          <a:xfrm>
            <a:off x="1028700" y="1103236"/>
            <a:ext cx="16230600" cy="287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897" u="none" cap="none" strike="noStrike">
                <a:solidFill>
                  <a:srgbClr val="7D39FF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Thank you!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1028700" y="7095122"/>
            <a:ext cx="689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Questions? Reach out.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1912948" y="8154381"/>
            <a:ext cx="185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Email 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1912948" y="8659467"/>
            <a:ext cx="4676669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hello@reallygreatsite.com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7757817" y="8154381"/>
            <a:ext cx="262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Social media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7757817" y="8659467"/>
            <a:ext cx="3137184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@reallygreatsite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12589978" y="8154381"/>
            <a:ext cx="29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Contact number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12589978" y="8659467"/>
            <a:ext cx="2429518" cy="379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123-456-7890</a:t>
            </a:r>
            <a:endParaRPr/>
          </a:p>
        </p:txBody>
      </p:sp>
      <p:grpSp>
        <p:nvGrpSpPr>
          <p:cNvPr id="295" name="Google Shape;295;p22"/>
          <p:cNvGrpSpPr/>
          <p:nvPr/>
        </p:nvGrpSpPr>
        <p:grpSpPr>
          <a:xfrm>
            <a:off x="0" y="9948304"/>
            <a:ext cx="18288118" cy="338691"/>
            <a:chOff x="0" y="-28575"/>
            <a:chExt cx="4816592" cy="202252"/>
          </a:xfrm>
        </p:grpSpPr>
        <p:sp>
          <p:nvSpPr>
            <p:cNvPr id="296" name="Google Shape;296;p22"/>
            <p:cNvSpPr/>
            <p:nvPr/>
          </p:nvSpPr>
          <p:spPr>
            <a:xfrm>
              <a:off x="0" y="0"/>
              <a:ext cx="4816592" cy="173677"/>
            </a:xfrm>
            <a:custGeom>
              <a:rect b="b" l="l" r="r" t="t"/>
              <a:pathLst>
                <a:path extrusionOk="0" h="17367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3677"/>
                  </a:lnTo>
                  <a:lnTo>
                    <a:pt x="0" y="173677"/>
                  </a:lnTo>
                  <a:close/>
                </a:path>
              </a:pathLst>
            </a:custGeom>
            <a:gradFill>
              <a:gsLst>
                <a:gs pos="0">
                  <a:srgbClr val="7D39FF"/>
                </a:gs>
                <a:gs pos="100000">
                  <a:srgbClr val="00D0FF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97" name="Google Shape;297;p22"/>
            <p:cNvSpPr txBox="1"/>
            <p:nvPr/>
          </p:nvSpPr>
          <p:spPr>
            <a:xfrm>
              <a:off x="0" y="-28575"/>
              <a:ext cx="4816500" cy="20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23"/>
          <p:cNvGrpSpPr/>
          <p:nvPr/>
        </p:nvGrpSpPr>
        <p:grpSpPr>
          <a:xfrm>
            <a:off x="0" y="-119992"/>
            <a:ext cx="18287869" cy="10406919"/>
            <a:chOff x="0" y="-28575"/>
            <a:chExt cx="4355084" cy="2478310"/>
          </a:xfrm>
        </p:grpSpPr>
        <p:sp>
          <p:nvSpPr>
            <p:cNvPr id="303" name="Google Shape;303;p23"/>
            <p:cNvSpPr/>
            <p:nvPr/>
          </p:nvSpPr>
          <p:spPr>
            <a:xfrm>
              <a:off x="0" y="0"/>
              <a:ext cx="4355083" cy="2449735"/>
            </a:xfrm>
            <a:custGeom>
              <a:rect b="b" l="l" r="r" t="t"/>
              <a:pathLst>
                <a:path extrusionOk="0" h="2449735" w="4355083">
                  <a:moveTo>
                    <a:pt x="0" y="0"/>
                  </a:moveTo>
                  <a:lnTo>
                    <a:pt x="4355083" y="0"/>
                  </a:lnTo>
                  <a:lnTo>
                    <a:pt x="4355083" y="2449735"/>
                  </a:lnTo>
                  <a:lnTo>
                    <a:pt x="0" y="2449735"/>
                  </a:lnTo>
                  <a:close/>
                </a:path>
              </a:pathLst>
            </a:custGeom>
            <a:noFill/>
            <a:ln cap="sq" cmpd="sng" w="514350">
              <a:solidFill>
                <a:srgbClr val="7D39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4" name="Google Shape;304;p23"/>
            <p:cNvSpPr txBox="1"/>
            <p:nvPr/>
          </p:nvSpPr>
          <p:spPr>
            <a:xfrm>
              <a:off x="0" y="-28575"/>
              <a:ext cx="4355084" cy="2478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23"/>
          <p:cNvGrpSpPr/>
          <p:nvPr/>
        </p:nvGrpSpPr>
        <p:grpSpPr>
          <a:xfrm>
            <a:off x="2455711" y="2918691"/>
            <a:ext cx="1615948" cy="647237"/>
            <a:chOff x="0" y="0"/>
            <a:chExt cx="425599" cy="170466"/>
          </a:xfrm>
        </p:grpSpPr>
        <p:sp>
          <p:nvSpPr>
            <p:cNvPr id="306" name="Google Shape;306;p23"/>
            <p:cNvSpPr/>
            <p:nvPr/>
          </p:nvSpPr>
          <p:spPr>
            <a:xfrm>
              <a:off x="0" y="0"/>
              <a:ext cx="425599" cy="170466"/>
            </a:xfrm>
            <a:custGeom>
              <a:rect b="b" l="l" r="r" t="t"/>
              <a:pathLst>
                <a:path extrusionOk="0" h="170466" w="425599">
                  <a:moveTo>
                    <a:pt x="85233" y="0"/>
                  </a:moveTo>
                  <a:lnTo>
                    <a:pt x="340367" y="0"/>
                  </a:lnTo>
                  <a:cubicBezTo>
                    <a:pt x="362972" y="0"/>
                    <a:pt x="384651" y="8980"/>
                    <a:pt x="400635" y="24964"/>
                  </a:cubicBezTo>
                  <a:cubicBezTo>
                    <a:pt x="416619" y="40948"/>
                    <a:pt x="425599" y="62628"/>
                    <a:pt x="425599" y="85233"/>
                  </a:cubicBezTo>
                  <a:lnTo>
                    <a:pt x="425599" y="85233"/>
                  </a:lnTo>
                  <a:cubicBezTo>
                    <a:pt x="425599" y="107838"/>
                    <a:pt x="416619" y="129517"/>
                    <a:pt x="400635" y="145502"/>
                  </a:cubicBezTo>
                  <a:cubicBezTo>
                    <a:pt x="384651" y="161486"/>
                    <a:pt x="362972" y="170466"/>
                    <a:pt x="340367" y="170466"/>
                  </a:cubicBezTo>
                  <a:lnTo>
                    <a:pt x="85233" y="170466"/>
                  </a:lnTo>
                  <a:cubicBezTo>
                    <a:pt x="62628" y="170466"/>
                    <a:pt x="40948" y="161486"/>
                    <a:pt x="24964" y="145502"/>
                  </a:cubicBezTo>
                  <a:cubicBezTo>
                    <a:pt x="8980" y="129517"/>
                    <a:pt x="0" y="107838"/>
                    <a:pt x="0" y="85233"/>
                  </a:cubicBezTo>
                  <a:lnTo>
                    <a:pt x="0" y="85233"/>
                  </a:lnTo>
                  <a:cubicBezTo>
                    <a:pt x="0" y="62628"/>
                    <a:pt x="8980" y="40948"/>
                    <a:pt x="24964" y="24964"/>
                  </a:cubicBezTo>
                  <a:cubicBezTo>
                    <a:pt x="40948" y="8980"/>
                    <a:pt x="62628" y="0"/>
                    <a:pt x="85233" y="0"/>
                  </a:cubicBez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0" y="0"/>
              <a:ext cx="425599" cy="170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Fonts</a:t>
              </a:r>
              <a:endParaRPr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308" name="Google Shape;308;p23"/>
          <p:cNvGrpSpPr/>
          <p:nvPr/>
        </p:nvGrpSpPr>
        <p:grpSpPr>
          <a:xfrm>
            <a:off x="9623087" y="2918691"/>
            <a:ext cx="4368067" cy="647237"/>
            <a:chOff x="0" y="0"/>
            <a:chExt cx="1150437" cy="170466"/>
          </a:xfrm>
        </p:grpSpPr>
        <p:sp>
          <p:nvSpPr>
            <p:cNvPr id="309" name="Google Shape;309;p2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5448" y="0"/>
                  </a:moveTo>
                  <a:lnTo>
                    <a:pt x="1114989" y="0"/>
                  </a:lnTo>
                  <a:cubicBezTo>
                    <a:pt x="1124391" y="0"/>
                    <a:pt x="1133407" y="3735"/>
                    <a:pt x="1140055" y="10382"/>
                  </a:cubicBezTo>
                  <a:cubicBezTo>
                    <a:pt x="1146703" y="17030"/>
                    <a:pt x="1150437" y="26046"/>
                    <a:pt x="1150437" y="35448"/>
                  </a:cubicBezTo>
                  <a:lnTo>
                    <a:pt x="1150437" y="135018"/>
                  </a:lnTo>
                  <a:cubicBezTo>
                    <a:pt x="1150437" y="144419"/>
                    <a:pt x="1146703" y="153436"/>
                    <a:pt x="1140055" y="160083"/>
                  </a:cubicBezTo>
                  <a:cubicBezTo>
                    <a:pt x="1133407" y="166731"/>
                    <a:pt x="1124391" y="170466"/>
                    <a:pt x="1114989" y="170466"/>
                  </a:cubicBezTo>
                  <a:lnTo>
                    <a:pt x="35448" y="170466"/>
                  </a:lnTo>
                  <a:cubicBezTo>
                    <a:pt x="26046" y="170466"/>
                    <a:pt x="17030" y="166731"/>
                    <a:pt x="10382" y="160083"/>
                  </a:cubicBezTo>
                  <a:cubicBezTo>
                    <a:pt x="3735" y="153436"/>
                    <a:pt x="0" y="144419"/>
                    <a:pt x="0" y="135018"/>
                  </a:cubicBezTo>
                  <a:lnTo>
                    <a:pt x="0" y="35448"/>
                  </a:lnTo>
                  <a:cubicBezTo>
                    <a:pt x="0" y="26046"/>
                    <a:pt x="3735" y="17030"/>
                    <a:pt x="10382" y="10382"/>
                  </a:cubicBezTo>
                  <a:cubicBezTo>
                    <a:pt x="17030" y="3735"/>
                    <a:pt x="26046" y="0"/>
                    <a:pt x="35448" y="0"/>
                  </a:cubicBez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0" y="0"/>
              <a:ext cx="1150437" cy="170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Design Elements / Icons</a:t>
              </a:r>
              <a:endParaRPr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grpSp>
        <p:nvGrpSpPr>
          <p:cNvPr id="311" name="Google Shape;311;p23"/>
          <p:cNvGrpSpPr/>
          <p:nvPr/>
        </p:nvGrpSpPr>
        <p:grpSpPr>
          <a:xfrm>
            <a:off x="2455711" y="7347143"/>
            <a:ext cx="1615948" cy="647237"/>
            <a:chOff x="0" y="0"/>
            <a:chExt cx="425599" cy="170466"/>
          </a:xfrm>
        </p:grpSpPr>
        <p:sp>
          <p:nvSpPr>
            <p:cNvPr id="312" name="Google Shape;312;p23"/>
            <p:cNvSpPr/>
            <p:nvPr/>
          </p:nvSpPr>
          <p:spPr>
            <a:xfrm>
              <a:off x="0" y="0"/>
              <a:ext cx="425599" cy="170466"/>
            </a:xfrm>
            <a:custGeom>
              <a:rect b="b" l="l" r="r" t="t"/>
              <a:pathLst>
                <a:path extrusionOk="0" h="170466" w="425599">
                  <a:moveTo>
                    <a:pt x="85233" y="0"/>
                  </a:moveTo>
                  <a:lnTo>
                    <a:pt x="340367" y="0"/>
                  </a:lnTo>
                  <a:cubicBezTo>
                    <a:pt x="362972" y="0"/>
                    <a:pt x="384651" y="8980"/>
                    <a:pt x="400635" y="24964"/>
                  </a:cubicBezTo>
                  <a:cubicBezTo>
                    <a:pt x="416619" y="40948"/>
                    <a:pt x="425599" y="62628"/>
                    <a:pt x="425599" y="85233"/>
                  </a:cubicBezTo>
                  <a:lnTo>
                    <a:pt x="425599" y="85233"/>
                  </a:lnTo>
                  <a:cubicBezTo>
                    <a:pt x="425599" y="107838"/>
                    <a:pt x="416619" y="129517"/>
                    <a:pt x="400635" y="145502"/>
                  </a:cubicBezTo>
                  <a:cubicBezTo>
                    <a:pt x="384651" y="161486"/>
                    <a:pt x="362972" y="170466"/>
                    <a:pt x="340367" y="170466"/>
                  </a:cubicBezTo>
                  <a:lnTo>
                    <a:pt x="85233" y="170466"/>
                  </a:lnTo>
                  <a:cubicBezTo>
                    <a:pt x="62628" y="170466"/>
                    <a:pt x="40948" y="161486"/>
                    <a:pt x="24964" y="145502"/>
                  </a:cubicBezTo>
                  <a:cubicBezTo>
                    <a:pt x="8980" y="129517"/>
                    <a:pt x="0" y="107838"/>
                    <a:pt x="0" y="85233"/>
                  </a:cubicBezTo>
                  <a:lnTo>
                    <a:pt x="0" y="85233"/>
                  </a:lnTo>
                  <a:cubicBezTo>
                    <a:pt x="0" y="62628"/>
                    <a:pt x="8980" y="40948"/>
                    <a:pt x="24964" y="24964"/>
                  </a:cubicBezTo>
                  <a:cubicBezTo>
                    <a:pt x="40948" y="8980"/>
                    <a:pt x="62628" y="0"/>
                    <a:pt x="85233" y="0"/>
                  </a:cubicBez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 txBox="1"/>
            <p:nvPr/>
          </p:nvSpPr>
          <p:spPr>
            <a:xfrm>
              <a:off x="0" y="0"/>
              <a:ext cx="425599" cy="170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Colors</a:t>
              </a:r>
              <a:endParaRPr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sp>
        <p:nvSpPr>
          <p:cNvPr id="314" name="Google Shape;314;p23"/>
          <p:cNvSpPr txBox="1"/>
          <p:nvPr/>
        </p:nvSpPr>
        <p:spPr>
          <a:xfrm>
            <a:off x="1043202" y="4014762"/>
            <a:ext cx="4440966" cy="488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presentation template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the following free fonts: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1079652" y="6781009"/>
            <a:ext cx="4368067" cy="242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find these fonts online too.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1688417" y="5283272"/>
            <a:ext cx="3150536" cy="3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97" u="none" cap="none" strike="noStrike">
                <a:solidFill>
                  <a:srgbClr val="000000"/>
                </a:solidFill>
                <a:latin typeface="Frank Ruhl Libre"/>
                <a:ea typeface="Frank Ruhl Libre"/>
                <a:cs typeface="Frank Ruhl Libre"/>
                <a:sym typeface="Frank Ruhl Libre"/>
              </a:rPr>
              <a:t>Fran Ruhl Libre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1523971" y="6140256"/>
            <a:ext cx="3479429" cy="264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 Vietnam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2319155" y="4989278"/>
            <a:ext cx="18891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7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TITLES: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2319155" y="5858112"/>
            <a:ext cx="1889100" cy="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7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BODY TEXT: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320" name="Google Shape;320;p23"/>
          <p:cNvGrpSpPr/>
          <p:nvPr/>
        </p:nvGrpSpPr>
        <p:grpSpPr>
          <a:xfrm>
            <a:off x="1800115" y="8184880"/>
            <a:ext cx="644650" cy="644650"/>
            <a:chOff x="0" y="0"/>
            <a:chExt cx="812800" cy="812800"/>
          </a:xfrm>
        </p:grpSpPr>
        <p:sp>
          <p:nvSpPr>
            <p:cNvPr id="321" name="Google Shape;321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9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3"/>
          <p:cNvGrpSpPr/>
          <p:nvPr/>
        </p:nvGrpSpPr>
        <p:grpSpPr>
          <a:xfrm>
            <a:off x="2524213" y="8184880"/>
            <a:ext cx="644650" cy="644650"/>
            <a:chOff x="0" y="0"/>
            <a:chExt cx="812800" cy="812800"/>
          </a:xfrm>
        </p:grpSpPr>
        <p:sp>
          <p:nvSpPr>
            <p:cNvPr id="324" name="Google Shape;324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B3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23"/>
          <p:cNvGrpSpPr/>
          <p:nvPr/>
        </p:nvGrpSpPr>
        <p:grpSpPr>
          <a:xfrm>
            <a:off x="3304205" y="8184880"/>
            <a:ext cx="644650" cy="644650"/>
            <a:chOff x="0" y="0"/>
            <a:chExt cx="812800" cy="812800"/>
          </a:xfrm>
        </p:grpSpPr>
        <p:sp>
          <p:nvSpPr>
            <p:cNvPr id="327" name="Google Shape;327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F0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23"/>
          <p:cNvGrpSpPr/>
          <p:nvPr/>
        </p:nvGrpSpPr>
        <p:grpSpPr>
          <a:xfrm>
            <a:off x="4082605" y="8184880"/>
            <a:ext cx="644650" cy="644650"/>
            <a:chOff x="0" y="0"/>
            <a:chExt cx="812800" cy="812800"/>
          </a:xfrm>
        </p:grpSpPr>
        <p:sp>
          <p:nvSpPr>
            <p:cNvPr id="330" name="Google Shape;330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1A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23"/>
          <p:cNvSpPr txBox="1"/>
          <p:nvPr/>
        </p:nvSpPr>
        <p:spPr>
          <a:xfrm>
            <a:off x="1613974" y="8932550"/>
            <a:ext cx="10170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#369FFF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33" name="Google Shape;333;p23"/>
          <p:cNvSpPr txBox="1"/>
          <p:nvPr/>
        </p:nvSpPr>
        <p:spPr>
          <a:xfrm>
            <a:off x="2448350" y="8932550"/>
            <a:ext cx="7965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#8B3FFF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3228298" y="8932550"/>
            <a:ext cx="7965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#DFF0FF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4082605" y="8932559"/>
            <a:ext cx="6447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5" u="none" cap="none" strike="noStrike">
                <a:solidFill>
                  <a:srgbClr val="000000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#0F1A38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3800933" y="1724385"/>
            <a:ext cx="10686133" cy="312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these in your presentation. Delete or hide this page before presenting. 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5469973" y="713605"/>
            <a:ext cx="7348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7D39FF"/>
                </a:solidFill>
                <a:latin typeface="Frank Ruhl Libre Medium"/>
                <a:ea typeface="Frank Ruhl Libre Medium"/>
                <a:cs typeface="Frank Ruhl Libre Medium"/>
                <a:sym typeface="Frank Ruhl Libre Medium"/>
              </a:rPr>
              <a:t>Resource Page</a:t>
            </a:r>
            <a:endParaRPr/>
          </a:p>
        </p:txBody>
      </p:sp>
      <p:grpSp>
        <p:nvGrpSpPr>
          <p:cNvPr id="338" name="Google Shape;338;p23"/>
          <p:cNvGrpSpPr/>
          <p:nvPr/>
        </p:nvGrpSpPr>
        <p:grpSpPr>
          <a:xfrm>
            <a:off x="7133477" y="4308878"/>
            <a:ext cx="9366336" cy="4380413"/>
            <a:chOff x="0" y="0"/>
            <a:chExt cx="12488449" cy="5840551"/>
          </a:xfrm>
        </p:grpSpPr>
        <p:sp>
          <p:nvSpPr>
            <p:cNvPr id="339" name="Google Shape;339;p23"/>
            <p:cNvSpPr/>
            <p:nvPr/>
          </p:nvSpPr>
          <p:spPr>
            <a:xfrm>
              <a:off x="135312" y="4877493"/>
              <a:ext cx="500330" cy="929667"/>
            </a:xfrm>
            <a:custGeom>
              <a:rect b="b" l="l" r="r" t="t"/>
              <a:pathLst>
                <a:path extrusionOk="0" h="929667" w="500330">
                  <a:moveTo>
                    <a:pt x="0" y="0"/>
                  </a:moveTo>
                  <a:lnTo>
                    <a:pt x="500329" y="0"/>
                  </a:lnTo>
                  <a:lnTo>
                    <a:pt x="500329" y="929667"/>
                  </a:lnTo>
                  <a:lnTo>
                    <a:pt x="0" y="9296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0" name="Google Shape;340;p23"/>
            <p:cNvSpPr/>
            <p:nvPr/>
          </p:nvSpPr>
          <p:spPr>
            <a:xfrm>
              <a:off x="10119822" y="1675470"/>
              <a:ext cx="878540" cy="755545"/>
            </a:xfrm>
            <a:custGeom>
              <a:rect b="b" l="l" r="r" t="t"/>
              <a:pathLst>
                <a:path extrusionOk="0" h="755545" w="878540">
                  <a:moveTo>
                    <a:pt x="0" y="0"/>
                  </a:moveTo>
                  <a:lnTo>
                    <a:pt x="878540" y="0"/>
                  </a:lnTo>
                  <a:lnTo>
                    <a:pt x="878540" y="755545"/>
                  </a:lnTo>
                  <a:lnTo>
                    <a:pt x="0" y="7555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1" name="Google Shape;341;p23"/>
            <p:cNvSpPr/>
            <p:nvPr/>
          </p:nvSpPr>
          <p:spPr>
            <a:xfrm>
              <a:off x="11795231" y="3235122"/>
              <a:ext cx="624415" cy="862885"/>
            </a:xfrm>
            <a:custGeom>
              <a:rect b="b" l="l" r="r" t="t"/>
              <a:pathLst>
                <a:path extrusionOk="0" h="862885" w="624415">
                  <a:moveTo>
                    <a:pt x="0" y="0"/>
                  </a:moveTo>
                  <a:lnTo>
                    <a:pt x="624415" y="0"/>
                  </a:lnTo>
                  <a:lnTo>
                    <a:pt x="624415" y="862885"/>
                  </a:lnTo>
                  <a:lnTo>
                    <a:pt x="0" y="8628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2" name="Google Shape;342;p23"/>
            <p:cNvSpPr/>
            <p:nvPr/>
          </p:nvSpPr>
          <p:spPr>
            <a:xfrm>
              <a:off x="10733108" y="3281088"/>
              <a:ext cx="514436" cy="770953"/>
            </a:xfrm>
            <a:custGeom>
              <a:rect b="b" l="l" r="r" t="t"/>
              <a:pathLst>
                <a:path extrusionOk="0" h="770953" w="514436">
                  <a:moveTo>
                    <a:pt x="0" y="0"/>
                  </a:moveTo>
                  <a:lnTo>
                    <a:pt x="514435" y="0"/>
                  </a:lnTo>
                  <a:lnTo>
                    <a:pt x="514435" y="770953"/>
                  </a:lnTo>
                  <a:lnTo>
                    <a:pt x="0" y="770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3" name="Google Shape;343;p23"/>
            <p:cNvSpPr/>
            <p:nvPr/>
          </p:nvSpPr>
          <p:spPr>
            <a:xfrm>
              <a:off x="11635282" y="4956850"/>
              <a:ext cx="853167" cy="770953"/>
            </a:xfrm>
            <a:custGeom>
              <a:rect b="b" l="l" r="r" t="t"/>
              <a:pathLst>
                <a:path extrusionOk="0" h="770953" w="853167">
                  <a:moveTo>
                    <a:pt x="0" y="0"/>
                  </a:moveTo>
                  <a:lnTo>
                    <a:pt x="853168" y="0"/>
                  </a:lnTo>
                  <a:lnTo>
                    <a:pt x="853168" y="770953"/>
                  </a:lnTo>
                  <a:lnTo>
                    <a:pt x="0" y="770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4" name="Google Shape;344;p23"/>
            <p:cNvSpPr/>
            <p:nvPr/>
          </p:nvSpPr>
          <p:spPr>
            <a:xfrm>
              <a:off x="11635282" y="50205"/>
              <a:ext cx="770953" cy="770953"/>
            </a:xfrm>
            <a:custGeom>
              <a:rect b="b" l="l" r="r" t="t"/>
              <a:pathLst>
                <a:path extrusionOk="0" h="770953" w="770953">
                  <a:moveTo>
                    <a:pt x="0" y="0"/>
                  </a:moveTo>
                  <a:lnTo>
                    <a:pt x="770953" y="0"/>
                  </a:lnTo>
                  <a:lnTo>
                    <a:pt x="770953" y="770953"/>
                  </a:lnTo>
                  <a:lnTo>
                    <a:pt x="0" y="770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5" name="Google Shape;345;p23"/>
            <p:cNvSpPr/>
            <p:nvPr/>
          </p:nvSpPr>
          <p:spPr>
            <a:xfrm>
              <a:off x="10131384" y="111579"/>
              <a:ext cx="1054772" cy="648205"/>
            </a:xfrm>
            <a:custGeom>
              <a:rect b="b" l="l" r="r" t="t"/>
              <a:pathLst>
                <a:path extrusionOk="0" h="648205" w="1054772">
                  <a:moveTo>
                    <a:pt x="0" y="0"/>
                  </a:moveTo>
                  <a:lnTo>
                    <a:pt x="1054772" y="0"/>
                  </a:lnTo>
                  <a:lnTo>
                    <a:pt x="1054772" y="648205"/>
                  </a:lnTo>
                  <a:lnTo>
                    <a:pt x="0" y="6482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6" name="Google Shape;346;p23"/>
            <p:cNvSpPr/>
            <p:nvPr/>
          </p:nvSpPr>
          <p:spPr>
            <a:xfrm>
              <a:off x="11556761" y="1621800"/>
              <a:ext cx="862885" cy="862885"/>
            </a:xfrm>
            <a:custGeom>
              <a:rect b="b" l="l" r="r" t="t"/>
              <a:pathLst>
                <a:path extrusionOk="0" h="862885" w="862885">
                  <a:moveTo>
                    <a:pt x="0" y="0"/>
                  </a:moveTo>
                  <a:lnTo>
                    <a:pt x="862885" y="0"/>
                  </a:lnTo>
                  <a:lnTo>
                    <a:pt x="862885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7" name="Google Shape;347;p23"/>
            <p:cNvSpPr/>
            <p:nvPr/>
          </p:nvSpPr>
          <p:spPr>
            <a:xfrm>
              <a:off x="10427683" y="4910884"/>
              <a:ext cx="600881" cy="862885"/>
            </a:xfrm>
            <a:custGeom>
              <a:rect b="b" l="l" r="r" t="t"/>
              <a:pathLst>
                <a:path extrusionOk="0" h="862885" w="600881">
                  <a:moveTo>
                    <a:pt x="0" y="0"/>
                  </a:moveTo>
                  <a:lnTo>
                    <a:pt x="600881" y="0"/>
                  </a:lnTo>
                  <a:lnTo>
                    <a:pt x="600881" y="862885"/>
                  </a:lnTo>
                  <a:lnTo>
                    <a:pt x="0" y="8628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8" name="Google Shape;348;p23"/>
            <p:cNvSpPr/>
            <p:nvPr/>
          </p:nvSpPr>
          <p:spPr>
            <a:xfrm>
              <a:off x="6214233" y="4239"/>
              <a:ext cx="757770" cy="862885"/>
            </a:xfrm>
            <a:custGeom>
              <a:rect b="b" l="l" r="r" t="t"/>
              <a:pathLst>
                <a:path extrusionOk="0" h="862885" w="757770">
                  <a:moveTo>
                    <a:pt x="0" y="0"/>
                  </a:moveTo>
                  <a:lnTo>
                    <a:pt x="757770" y="0"/>
                  </a:lnTo>
                  <a:lnTo>
                    <a:pt x="757770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9" name="Google Shape;349;p23"/>
            <p:cNvSpPr/>
            <p:nvPr/>
          </p:nvSpPr>
          <p:spPr>
            <a:xfrm>
              <a:off x="8681801" y="138273"/>
              <a:ext cx="1000456" cy="594816"/>
            </a:xfrm>
            <a:custGeom>
              <a:rect b="b" l="l" r="r" t="t"/>
              <a:pathLst>
                <a:path extrusionOk="0" h="594816" w="1000456">
                  <a:moveTo>
                    <a:pt x="0" y="0"/>
                  </a:moveTo>
                  <a:lnTo>
                    <a:pt x="1000456" y="0"/>
                  </a:lnTo>
                  <a:lnTo>
                    <a:pt x="1000456" y="594816"/>
                  </a:lnTo>
                  <a:lnTo>
                    <a:pt x="0" y="5948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0" name="Google Shape;350;p23"/>
            <p:cNvSpPr/>
            <p:nvPr/>
          </p:nvSpPr>
          <p:spPr>
            <a:xfrm>
              <a:off x="1220080" y="50205"/>
              <a:ext cx="770953" cy="770953"/>
            </a:xfrm>
            <a:custGeom>
              <a:rect b="b" l="l" r="r" t="t"/>
              <a:pathLst>
                <a:path extrusionOk="0" h="770953" w="770953">
                  <a:moveTo>
                    <a:pt x="0" y="0"/>
                  </a:moveTo>
                  <a:lnTo>
                    <a:pt x="770953" y="0"/>
                  </a:lnTo>
                  <a:lnTo>
                    <a:pt x="770953" y="770953"/>
                  </a:lnTo>
                  <a:lnTo>
                    <a:pt x="0" y="770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1" name="Google Shape;351;p23"/>
            <p:cNvSpPr/>
            <p:nvPr/>
          </p:nvSpPr>
          <p:spPr>
            <a:xfrm>
              <a:off x="0" y="50205"/>
              <a:ext cx="770953" cy="770953"/>
            </a:xfrm>
            <a:custGeom>
              <a:rect b="b" l="l" r="r" t="t"/>
              <a:pathLst>
                <a:path extrusionOk="0" h="770953" w="770953">
                  <a:moveTo>
                    <a:pt x="0" y="0"/>
                  </a:moveTo>
                  <a:lnTo>
                    <a:pt x="770953" y="0"/>
                  </a:lnTo>
                  <a:lnTo>
                    <a:pt x="770953" y="770953"/>
                  </a:lnTo>
                  <a:lnTo>
                    <a:pt x="0" y="7709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2" name="Google Shape;352;p23"/>
            <p:cNvSpPr/>
            <p:nvPr/>
          </p:nvSpPr>
          <p:spPr>
            <a:xfrm>
              <a:off x="4909539" y="27342"/>
              <a:ext cx="855568" cy="816678"/>
            </a:xfrm>
            <a:custGeom>
              <a:rect b="b" l="l" r="r" t="t"/>
              <a:pathLst>
                <a:path extrusionOk="0" h="816678" w="855568">
                  <a:moveTo>
                    <a:pt x="0" y="0"/>
                  </a:moveTo>
                  <a:lnTo>
                    <a:pt x="855568" y="0"/>
                  </a:lnTo>
                  <a:lnTo>
                    <a:pt x="855568" y="816678"/>
                  </a:lnTo>
                  <a:lnTo>
                    <a:pt x="0" y="8166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3" name="Google Shape;353;p23"/>
            <p:cNvSpPr/>
            <p:nvPr/>
          </p:nvSpPr>
          <p:spPr>
            <a:xfrm>
              <a:off x="2440159" y="4239"/>
              <a:ext cx="856609" cy="862885"/>
            </a:xfrm>
            <a:custGeom>
              <a:rect b="b" l="l" r="r" t="t"/>
              <a:pathLst>
                <a:path extrusionOk="0" h="862885" w="856609">
                  <a:moveTo>
                    <a:pt x="0" y="0"/>
                  </a:moveTo>
                  <a:lnTo>
                    <a:pt x="856609" y="0"/>
                  </a:lnTo>
                  <a:lnTo>
                    <a:pt x="856609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4" name="Google Shape;354;p23"/>
            <p:cNvSpPr/>
            <p:nvPr/>
          </p:nvSpPr>
          <p:spPr>
            <a:xfrm>
              <a:off x="3745895" y="0"/>
              <a:ext cx="714517" cy="871362"/>
            </a:xfrm>
            <a:custGeom>
              <a:rect b="b" l="l" r="r" t="t"/>
              <a:pathLst>
                <a:path extrusionOk="0" h="871362" w="714517">
                  <a:moveTo>
                    <a:pt x="0" y="0"/>
                  </a:moveTo>
                  <a:lnTo>
                    <a:pt x="714517" y="0"/>
                  </a:lnTo>
                  <a:lnTo>
                    <a:pt x="714517" y="871362"/>
                  </a:lnTo>
                  <a:lnTo>
                    <a:pt x="0" y="87136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5" name="Google Shape;355;p23"/>
            <p:cNvSpPr/>
            <p:nvPr/>
          </p:nvSpPr>
          <p:spPr>
            <a:xfrm>
              <a:off x="7421130" y="27683"/>
              <a:ext cx="811545" cy="815996"/>
            </a:xfrm>
            <a:custGeom>
              <a:rect b="b" l="l" r="r" t="t"/>
              <a:pathLst>
                <a:path extrusionOk="0" h="815996" w="811545">
                  <a:moveTo>
                    <a:pt x="0" y="0"/>
                  </a:moveTo>
                  <a:lnTo>
                    <a:pt x="811545" y="0"/>
                  </a:lnTo>
                  <a:lnTo>
                    <a:pt x="811545" y="815996"/>
                  </a:lnTo>
                  <a:lnTo>
                    <a:pt x="0" y="81599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6" name="Google Shape;356;p23"/>
            <p:cNvSpPr/>
            <p:nvPr/>
          </p:nvSpPr>
          <p:spPr>
            <a:xfrm>
              <a:off x="7320352" y="1621800"/>
              <a:ext cx="696583" cy="862885"/>
            </a:xfrm>
            <a:custGeom>
              <a:rect b="b" l="l" r="r" t="t"/>
              <a:pathLst>
                <a:path extrusionOk="0" h="862885" w="696583">
                  <a:moveTo>
                    <a:pt x="0" y="0"/>
                  </a:moveTo>
                  <a:lnTo>
                    <a:pt x="696583" y="0"/>
                  </a:lnTo>
                  <a:lnTo>
                    <a:pt x="696583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7" name="Google Shape;357;p23"/>
            <p:cNvSpPr/>
            <p:nvPr/>
          </p:nvSpPr>
          <p:spPr>
            <a:xfrm>
              <a:off x="5824035" y="1621800"/>
              <a:ext cx="937918" cy="862885"/>
            </a:xfrm>
            <a:custGeom>
              <a:rect b="b" l="l" r="r" t="t"/>
              <a:pathLst>
                <a:path extrusionOk="0" h="862885" w="937918">
                  <a:moveTo>
                    <a:pt x="0" y="0"/>
                  </a:moveTo>
                  <a:lnTo>
                    <a:pt x="937918" y="0"/>
                  </a:lnTo>
                  <a:lnTo>
                    <a:pt x="937918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8" name="Google Shape;358;p23"/>
            <p:cNvSpPr/>
            <p:nvPr/>
          </p:nvSpPr>
          <p:spPr>
            <a:xfrm>
              <a:off x="8575334" y="1769966"/>
              <a:ext cx="986089" cy="566553"/>
            </a:xfrm>
            <a:custGeom>
              <a:rect b="b" l="l" r="r" t="t"/>
              <a:pathLst>
                <a:path extrusionOk="0" h="566553" w="986089">
                  <a:moveTo>
                    <a:pt x="0" y="0"/>
                  </a:moveTo>
                  <a:lnTo>
                    <a:pt x="986089" y="0"/>
                  </a:lnTo>
                  <a:lnTo>
                    <a:pt x="986089" y="566553"/>
                  </a:lnTo>
                  <a:lnTo>
                    <a:pt x="0" y="56655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9" name="Google Shape;359;p23"/>
            <p:cNvSpPr/>
            <p:nvPr/>
          </p:nvSpPr>
          <p:spPr>
            <a:xfrm>
              <a:off x="2983037" y="1621800"/>
              <a:ext cx="862885" cy="862885"/>
            </a:xfrm>
            <a:custGeom>
              <a:rect b="b" l="l" r="r" t="t"/>
              <a:pathLst>
                <a:path extrusionOk="0" h="862885" w="862885">
                  <a:moveTo>
                    <a:pt x="0" y="0"/>
                  </a:moveTo>
                  <a:lnTo>
                    <a:pt x="862884" y="0"/>
                  </a:lnTo>
                  <a:lnTo>
                    <a:pt x="862884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0" name="Google Shape;360;p23"/>
            <p:cNvSpPr/>
            <p:nvPr/>
          </p:nvSpPr>
          <p:spPr>
            <a:xfrm>
              <a:off x="0" y="1621800"/>
              <a:ext cx="1003354" cy="862885"/>
            </a:xfrm>
            <a:custGeom>
              <a:rect b="b" l="l" r="r" t="t"/>
              <a:pathLst>
                <a:path extrusionOk="0" h="862885" w="1003354">
                  <a:moveTo>
                    <a:pt x="0" y="0"/>
                  </a:moveTo>
                  <a:lnTo>
                    <a:pt x="1003354" y="0"/>
                  </a:lnTo>
                  <a:lnTo>
                    <a:pt x="1003354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1" name="Google Shape;361;p23"/>
            <p:cNvSpPr/>
            <p:nvPr/>
          </p:nvSpPr>
          <p:spPr>
            <a:xfrm>
              <a:off x="4404320" y="1621800"/>
              <a:ext cx="861316" cy="862885"/>
            </a:xfrm>
            <a:custGeom>
              <a:rect b="b" l="l" r="r" t="t"/>
              <a:pathLst>
                <a:path extrusionOk="0" h="862885" w="861316">
                  <a:moveTo>
                    <a:pt x="0" y="0"/>
                  </a:moveTo>
                  <a:lnTo>
                    <a:pt x="861316" y="0"/>
                  </a:lnTo>
                  <a:lnTo>
                    <a:pt x="861316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2" name="Google Shape;362;p23"/>
            <p:cNvSpPr/>
            <p:nvPr/>
          </p:nvSpPr>
          <p:spPr>
            <a:xfrm>
              <a:off x="1561753" y="1621800"/>
              <a:ext cx="862885" cy="862885"/>
            </a:xfrm>
            <a:custGeom>
              <a:rect b="b" l="l" r="r" t="t"/>
              <a:pathLst>
                <a:path extrusionOk="0" h="862885" w="862885">
                  <a:moveTo>
                    <a:pt x="0" y="0"/>
                  </a:moveTo>
                  <a:lnTo>
                    <a:pt x="862885" y="0"/>
                  </a:lnTo>
                  <a:lnTo>
                    <a:pt x="862885" y="862884"/>
                  </a:lnTo>
                  <a:lnTo>
                    <a:pt x="0" y="86288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3" name="Google Shape;363;p23"/>
            <p:cNvSpPr/>
            <p:nvPr/>
          </p:nvSpPr>
          <p:spPr>
            <a:xfrm>
              <a:off x="6651917" y="3293452"/>
              <a:ext cx="945677" cy="746225"/>
            </a:xfrm>
            <a:custGeom>
              <a:rect b="b" l="l" r="r" t="t"/>
              <a:pathLst>
                <a:path extrusionOk="0" h="746225" w="945677">
                  <a:moveTo>
                    <a:pt x="0" y="0"/>
                  </a:moveTo>
                  <a:lnTo>
                    <a:pt x="945677" y="0"/>
                  </a:lnTo>
                  <a:lnTo>
                    <a:pt x="945677" y="746225"/>
                  </a:lnTo>
                  <a:lnTo>
                    <a:pt x="0" y="74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4" name="Google Shape;364;p23"/>
            <p:cNvSpPr/>
            <p:nvPr/>
          </p:nvSpPr>
          <p:spPr>
            <a:xfrm>
              <a:off x="5128938" y="3373090"/>
              <a:ext cx="975291" cy="586948"/>
            </a:xfrm>
            <a:custGeom>
              <a:rect b="b" l="l" r="r" t="t"/>
              <a:pathLst>
                <a:path extrusionOk="0" h="586948" w="975291">
                  <a:moveTo>
                    <a:pt x="0" y="0"/>
                  </a:moveTo>
                  <a:lnTo>
                    <a:pt x="975291" y="0"/>
                  </a:lnTo>
                  <a:lnTo>
                    <a:pt x="975291" y="586948"/>
                  </a:lnTo>
                  <a:lnTo>
                    <a:pt x="0" y="5869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5" name="Google Shape;365;p23"/>
            <p:cNvSpPr/>
            <p:nvPr/>
          </p:nvSpPr>
          <p:spPr>
            <a:xfrm>
              <a:off x="2685615" y="3238862"/>
              <a:ext cx="802525" cy="855405"/>
            </a:xfrm>
            <a:custGeom>
              <a:rect b="b" l="l" r="r" t="t"/>
              <a:pathLst>
                <a:path extrusionOk="0" h="855405" w="802525">
                  <a:moveTo>
                    <a:pt x="0" y="0"/>
                  </a:moveTo>
                  <a:lnTo>
                    <a:pt x="802524" y="0"/>
                  </a:lnTo>
                  <a:lnTo>
                    <a:pt x="802524" y="855405"/>
                  </a:lnTo>
                  <a:lnTo>
                    <a:pt x="0" y="8554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6" name="Google Shape;366;p23"/>
            <p:cNvSpPr/>
            <p:nvPr/>
          </p:nvSpPr>
          <p:spPr>
            <a:xfrm>
              <a:off x="4035827" y="3293452"/>
              <a:ext cx="545423" cy="746225"/>
            </a:xfrm>
            <a:custGeom>
              <a:rect b="b" l="l" r="r" t="t"/>
              <a:pathLst>
                <a:path extrusionOk="0" h="746225" w="545423">
                  <a:moveTo>
                    <a:pt x="0" y="0"/>
                  </a:moveTo>
                  <a:lnTo>
                    <a:pt x="545423" y="0"/>
                  </a:lnTo>
                  <a:lnTo>
                    <a:pt x="545423" y="746225"/>
                  </a:lnTo>
                  <a:lnTo>
                    <a:pt x="0" y="74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7" name="Google Shape;367;p23"/>
            <p:cNvSpPr/>
            <p:nvPr/>
          </p:nvSpPr>
          <p:spPr>
            <a:xfrm>
              <a:off x="1514259" y="3238862"/>
              <a:ext cx="623668" cy="855405"/>
            </a:xfrm>
            <a:custGeom>
              <a:rect b="b" l="l" r="r" t="t"/>
              <a:pathLst>
                <a:path extrusionOk="0" h="855405" w="623668">
                  <a:moveTo>
                    <a:pt x="0" y="0"/>
                  </a:moveTo>
                  <a:lnTo>
                    <a:pt x="623668" y="0"/>
                  </a:lnTo>
                  <a:lnTo>
                    <a:pt x="623668" y="855405"/>
                  </a:lnTo>
                  <a:lnTo>
                    <a:pt x="0" y="85540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8" name="Google Shape;368;p23"/>
            <p:cNvSpPr/>
            <p:nvPr/>
          </p:nvSpPr>
          <p:spPr>
            <a:xfrm>
              <a:off x="9439195" y="3293452"/>
              <a:ext cx="746225" cy="746225"/>
            </a:xfrm>
            <a:custGeom>
              <a:rect b="b" l="l" r="r" t="t"/>
              <a:pathLst>
                <a:path extrusionOk="0" h="746225" w="746225">
                  <a:moveTo>
                    <a:pt x="0" y="0"/>
                  </a:moveTo>
                  <a:lnTo>
                    <a:pt x="746225" y="0"/>
                  </a:lnTo>
                  <a:lnTo>
                    <a:pt x="746225" y="746225"/>
                  </a:lnTo>
                  <a:lnTo>
                    <a:pt x="0" y="74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9" name="Google Shape;369;p23"/>
            <p:cNvSpPr/>
            <p:nvPr/>
          </p:nvSpPr>
          <p:spPr>
            <a:xfrm>
              <a:off x="8145282" y="3293452"/>
              <a:ext cx="746225" cy="746225"/>
            </a:xfrm>
            <a:custGeom>
              <a:rect b="b" l="l" r="r" t="t"/>
              <a:pathLst>
                <a:path extrusionOk="0" h="746225" w="746225">
                  <a:moveTo>
                    <a:pt x="0" y="0"/>
                  </a:moveTo>
                  <a:lnTo>
                    <a:pt x="746225" y="0"/>
                  </a:lnTo>
                  <a:lnTo>
                    <a:pt x="746225" y="746225"/>
                  </a:lnTo>
                  <a:lnTo>
                    <a:pt x="0" y="74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0" name="Google Shape;370;p23"/>
            <p:cNvSpPr/>
            <p:nvPr/>
          </p:nvSpPr>
          <p:spPr>
            <a:xfrm>
              <a:off x="0" y="3235122"/>
              <a:ext cx="966571" cy="862885"/>
            </a:xfrm>
            <a:custGeom>
              <a:rect b="b" l="l" r="r" t="t"/>
              <a:pathLst>
                <a:path extrusionOk="0" h="862885" w="966571">
                  <a:moveTo>
                    <a:pt x="0" y="0"/>
                  </a:moveTo>
                  <a:lnTo>
                    <a:pt x="966571" y="0"/>
                  </a:lnTo>
                  <a:lnTo>
                    <a:pt x="966571" y="862885"/>
                  </a:lnTo>
                  <a:lnTo>
                    <a:pt x="0" y="8628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1" name="Google Shape;371;p23"/>
            <p:cNvSpPr/>
            <p:nvPr/>
          </p:nvSpPr>
          <p:spPr>
            <a:xfrm>
              <a:off x="9082237" y="4919977"/>
              <a:ext cx="738728" cy="844699"/>
            </a:xfrm>
            <a:custGeom>
              <a:rect b="b" l="l" r="r" t="t"/>
              <a:pathLst>
                <a:path extrusionOk="0" h="844699" w="738728">
                  <a:moveTo>
                    <a:pt x="0" y="0"/>
                  </a:moveTo>
                  <a:lnTo>
                    <a:pt x="738728" y="0"/>
                  </a:lnTo>
                  <a:lnTo>
                    <a:pt x="738728" y="844699"/>
                  </a:lnTo>
                  <a:lnTo>
                    <a:pt x="0" y="844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2" name="Google Shape;372;p23"/>
            <p:cNvSpPr/>
            <p:nvPr/>
          </p:nvSpPr>
          <p:spPr>
            <a:xfrm>
              <a:off x="7586147" y="5031046"/>
              <a:ext cx="889372" cy="622560"/>
            </a:xfrm>
            <a:custGeom>
              <a:rect b="b" l="l" r="r" t="t"/>
              <a:pathLst>
                <a:path extrusionOk="0" h="622560" w="889372">
                  <a:moveTo>
                    <a:pt x="0" y="0"/>
                  </a:moveTo>
                  <a:lnTo>
                    <a:pt x="889372" y="0"/>
                  </a:lnTo>
                  <a:lnTo>
                    <a:pt x="889372" y="622561"/>
                  </a:lnTo>
                  <a:lnTo>
                    <a:pt x="0" y="6225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3" name="Google Shape;373;p23"/>
            <p:cNvSpPr/>
            <p:nvPr/>
          </p:nvSpPr>
          <p:spPr>
            <a:xfrm>
              <a:off x="6218521" y="5031046"/>
              <a:ext cx="760907" cy="622560"/>
            </a:xfrm>
            <a:custGeom>
              <a:rect b="b" l="l" r="r" t="t"/>
              <a:pathLst>
                <a:path extrusionOk="0" h="622560" w="760907">
                  <a:moveTo>
                    <a:pt x="0" y="0"/>
                  </a:moveTo>
                  <a:lnTo>
                    <a:pt x="760908" y="0"/>
                  </a:lnTo>
                  <a:lnTo>
                    <a:pt x="760908" y="622561"/>
                  </a:lnTo>
                  <a:lnTo>
                    <a:pt x="0" y="6225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4" name="Google Shape;374;p23"/>
            <p:cNvSpPr/>
            <p:nvPr/>
          </p:nvSpPr>
          <p:spPr>
            <a:xfrm>
              <a:off x="3957104" y="4919977"/>
              <a:ext cx="425421" cy="844699"/>
            </a:xfrm>
            <a:custGeom>
              <a:rect b="b" l="l" r="r" t="t"/>
              <a:pathLst>
                <a:path extrusionOk="0" h="844699" w="425421">
                  <a:moveTo>
                    <a:pt x="0" y="0"/>
                  </a:moveTo>
                  <a:lnTo>
                    <a:pt x="425421" y="0"/>
                  </a:lnTo>
                  <a:lnTo>
                    <a:pt x="425421" y="844699"/>
                  </a:lnTo>
                  <a:lnTo>
                    <a:pt x="0" y="844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5" name="Google Shape;375;p23"/>
            <p:cNvSpPr/>
            <p:nvPr/>
          </p:nvSpPr>
          <p:spPr>
            <a:xfrm>
              <a:off x="4989243" y="5031046"/>
              <a:ext cx="622560" cy="622560"/>
            </a:xfrm>
            <a:custGeom>
              <a:rect b="b" l="l" r="r" t="t"/>
              <a:pathLst>
                <a:path extrusionOk="0" h="622560" w="622560">
                  <a:moveTo>
                    <a:pt x="0" y="0"/>
                  </a:moveTo>
                  <a:lnTo>
                    <a:pt x="622560" y="0"/>
                  </a:lnTo>
                  <a:lnTo>
                    <a:pt x="622560" y="622561"/>
                  </a:lnTo>
                  <a:lnTo>
                    <a:pt x="0" y="6225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6" name="Google Shape;376;p23"/>
            <p:cNvSpPr/>
            <p:nvPr/>
          </p:nvSpPr>
          <p:spPr>
            <a:xfrm>
              <a:off x="1242359" y="4844102"/>
              <a:ext cx="771795" cy="996449"/>
            </a:xfrm>
            <a:custGeom>
              <a:rect b="b" l="l" r="r" t="t"/>
              <a:pathLst>
                <a:path extrusionOk="0" h="996449" w="771795">
                  <a:moveTo>
                    <a:pt x="0" y="0"/>
                  </a:moveTo>
                  <a:lnTo>
                    <a:pt x="771795" y="0"/>
                  </a:lnTo>
                  <a:lnTo>
                    <a:pt x="771795" y="996449"/>
                  </a:lnTo>
                  <a:lnTo>
                    <a:pt x="0" y="9964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7" name="Google Shape;377;p23"/>
            <p:cNvSpPr/>
            <p:nvPr/>
          </p:nvSpPr>
          <p:spPr>
            <a:xfrm>
              <a:off x="2620872" y="4919977"/>
              <a:ext cx="729513" cy="844699"/>
            </a:xfrm>
            <a:custGeom>
              <a:rect b="b" l="l" r="r" t="t"/>
              <a:pathLst>
                <a:path extrusionOk="0" h="844699" w="729513">
                  <a:moveTo>
                    <a:pt x="0" y="0"/>
                  </a:moveTo>
                  <a:lnTo>
                    <a:pt x="729514" y="0"/>
                  </a:lnTo>
                  <a:lnTo>
                    <a:pt x="729514" y="844699"/>
                  </a:lnTo>
                  <a:lnTo>
                    <a:pt x="0" y="844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24"/>
          <p:cNvGrpSpPr/>
          <p:nvPr/>
        </p:nvGrpSpPr>
        <p:grpSpPr>
          <a:xfrm>
            <a:off x="0" y="-119993"/>
            <a:ext cx="18288000" cy="10406993"/>
            <a:chOff x="0" y="-28575"/>
            <a:chExt cx="4355084" cy="2478310"/>
          </a:xfrm>
        </p:grpSpPr>
        <p:sp>
          <p:nvSpPr>
            <p:cNvPr id="383" name="Google Shape;383;p24"/>
            <p:cNvSpPr/>
            <p:nvPr/>
          </p:nvSpPr>
          <p:spPr>
            <a:xfrm>
              <a:off x="0" y="0"/>
              <a:ext cx="4355083" cy="2449735"/>
            </a:xfrm>
            <a:custGeom>
              <a:rect b="b" l="l" r="r" t="t"/>
              <a:pathLst>
                <a:path extrusionOk="0" h="2449735" w="4355083">
                  <a:moveTo>
                    <a:pt x="0" y="0"/>
                  </a:moveTo>
                  <a:lnTo>
                    <a:pt x="4355083" y="0"/>
                  </a:lnTo>
                  <a:lnTo>
                    <a:pt x="4355083" y="2449735"/>
                  </a:lnTo>
                  <a:lnTo>
                    <a:pt x="0" y="2449735"/>
                  </a:lnTo>
                  <a:close/>
                </a:path>
              </a:pathLst>
            </a:custGeom>
            <a:noFill/>
            <a:ln cap="sq" cmpd="sng" w="514350">
              <a:solidFill>
                <a:srgbClr val="7D39FF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4" name="Google Shape;384;p24"/>
            <p:cNvSpPr txBox="1"/>
            <p:nvPr/>
          </p:nvSpPr>
          <p:spPr>
            <a:xfrm>
              <a:off x="0" y="-28575"/>
              <a:ext cx="4355084" cy="2478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24"/>
          <p:cNvSpPr txBox="1"/>
          <p:nvPr/>
        </p:nvSpPr>
        <p:spPr>
          <a:xfrm>
            <a:off x="3377480" y="2483945"/>
            <a:ext cx="11533039" cy="312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presentation template is free for everyone to use, thanks to the following: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3377480" y="5261426"/>
            <a:ext cx="11533039" cy="312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this presentation template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3377480" y="7318793"/>
            <a:ext cx="11533039" cy="312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photos, graphics, and elements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7108732" y="8479706"/>
            <a:ext cx="4070535" cy="494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7D39FF"/>
                </a:solidFill>
                <a:latin typeface="Frank Ruhl Libre Medium"/>
                <a:ea typeface="Frank Ruhl Libre Medium"/>
                <a:cs typeface="Frank Ruhl Libre Medium"/>
                <a:sym typeface="Frank Ruhl Libre Medium"/>
              </a:rPr>
              <a:t>Happy designing!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5469973" y="1443980"/>
            <a:ext cx="7348055" cy="836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99" u="none" cap="none" strike="noStrike">
                <a:solidFill>
                  <a:srgbClr val="7D39FF"/>
                </a:solidFill>
                <a:latin typeface="Frank Ruhl Libre Medium"/>
                <a:ea typeface="Frank Ruhl Libre Medium"/>
                <a:cs typeface="Frank Ruhl Libre Medium"/>
                <a:sym typeface="Frank Ruhl Libre Medium"/>
              </a:rPr>
              <a:t>Credits</a:t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5004582" y="6508064"/>
            <a:ext cx="8278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A38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Pexels, Pixabay, Sketchify</a:t>
            </a:r>
            <a:endParaRPr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pic>
        <p:nvPicPr>
          <p:cNvPr id="391" name="Google Shape;3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3663" y="3616275"/>
            <a:ext cx="5100676" cy="128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